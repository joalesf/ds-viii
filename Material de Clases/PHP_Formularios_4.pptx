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1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68C5DC-9173-6D95-E5BF-D85D9E11FD87}" v="3" dt="2026-04-21T23:56:37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EL GONZALEZ" userId="S::anel.gonzalez4@utp.ac.pa::c5b67b5b-11d7-4ddd-80e6-9575ea6cae16" providerId="AD" clId="Web-{A168C5DC-9173-6D95-E5BF-D85D9E11FD87}"/>
    <pc:docChg chg="modSld">
      <pc:chgData name="ANEL GONZALEZ" userId="S::anel.gonzalez4@utp.ac.pa::c5b67b5b-11d7-4ddd-80e6-9575ea6cae16" providerId="AD" clId="Web-{A168C5DC-9173-6D95-E5BF-D85D9E11FD87}" dt="2026-04-21T23:56:37.704" v="2" actId="20577"/>
      <pc:docMkLst>
        <pc:docMk/>
      </pc:docMkLst>
      <pc:sldChg chg="modSp">
        <pc:chgData name="ANEL GONZALEZ" userId="S::anel.gonzalez4@utp.ac.pa::c5b67b5b-11d7-4ddd-80e6-9575ea6cae16" providerId="AD" clId="Web-{A168C5DC-9173-6D95-E5BF-D85D9E11FD87}" dt="2026-04-21T23:56:37.704" v="2" actId="20577"/>
        <pc:sldMkLst>
          <pc:docMk/>
          <pc:sldMk cId="0" sldId="273"/>
        </pc:sldMkLst>
        <pc:spChg chg="mod">
          <ac:chgData name="ANEL GONZALEZ" userId="S::anel.gonzalez4@utp.ac.pa::c5b67b5b-11d7-4ddd-80e6-9575ea6cae16" providerId="AD" clId="Web-{A168C5DC-9173-6D95-E5BF-D85D9E11FD87}" dt="2026-04-21T23:56:37.704" v="2" actId="20577"/>
          <ac:spMkLst>
            <pc:docMk/>
            <pc:sldMk cId="0" sldId="273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91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926080"/>
            <a:ext cx="2926080" cy="22174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6217920" cy="4800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7200"/>
            <a:ext cx="2377440" cy="40233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 in PHP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Formularios</a:t>
            </a:r>
            <a:endParaRPr lang="en-US" sz="520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PHP</a:t>
            </a:r>
            <a:endParaRPr lang="en-US" sz="520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• POST • $_SERVER • $_REQUEST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502920" y="3310128"/>
            <a:ext cx="32004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747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Mag. Tomás Calderón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502920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Tecnológica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Panamá•  DSVII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Contenido del Módulo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384048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1556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960120" y="1152144"/>
            <a:ext cx="379476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124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los formularios HTML?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502920" y="1389888"/>
            <a:ext cx="384048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3898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960120" y="1426464"/>
            <a:ext cx="379476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3990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un formulario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502920" y="1664208"/>
            <a:ext cx="384048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66420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960120" y="1700784"/>
            <a:ext cx="379476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1673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GET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02920" y="1938528"/>
            <a:ext cx="384048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9385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960120" y="1975104"/>
            <a:ext cx="379476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1947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POST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502920" y="2212848"/>
            <a:ext cx="384048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21284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960120" y="2249424"/>
            <a:ext cx="379476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2221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vs POST — Comparación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502920" y="2487168"/>
            <a:ext cx="384048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48716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960120" y="2523744"/>
            <a:ext cx="379476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2496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$_GET[]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502920" y="2761488"/>
            <a:ext cx="384048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7614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960120" y="2798064"/>
            <a:ext cx="379476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2770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$_POST[]</a:t>
            </a:r>
            <a:endParaRPr lang="en-US" sz="1200"/>
          </a:p>
        </p:txBody>
      </p:sp>
      <p:sp>
        <p:nvSpPr>
          <p:cNvPr id="36" name="Shape 34"/>
          <p:cNvSpPr/>
          <p:nvPr/>
        </p:nvSpPr>
        <p:spPr>
          <a:xfrm>
            <a:off x="4910328" y="1115568"/>
            <a:ext cx="384048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111556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5367528" y="1152144"/>
            <a:ext cx="379476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13248" y="1124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completo con POST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4910328" y="1389888"/>
            <a:ext cx="384048" cy="2194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13898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5367528" y="1426464"/>
            <a:ext cx="379476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13248" y="13990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$_SERVER[]</a:t>
            </a:r>
            <a:endParaRPr lang="en-US" sz="1200"/>
          </a:p>
        </p:txBody>
      </p:sp>
      <p:sp>
        <p:nvSpPr>
          <p:cNvPr id="44" name="Shape 42"/>
          <p:cNvSpPr/>
          <p:nvPr/>
        </p:nvSpPr>
        <p:spPr>
          <a:xfrm>
            <a:off x="4910328" y="1664208"/>
            <a:ext cx="384048" cy="2194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0328" y="166420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>
          <a:xfrm>
            <a:off x="5367528" y="1700784"/>
            <a:ext cx="379476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13248" y="1673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$_SERVER[]</a:t>
            </a:r>
            <a:endParaRPr lang="en-US" sz="1200"/>
          </a:p>
        </p:txBody>
      </p:sp>
      <p:sp>
        <p:nvSpPr>
          <p:cNvPr id="48" name="Shape 46"/>
          <p:cNvSpPr/>
          <p:nvPr/>
        </p:nvSpPr>
        <p:spPr>
          <a:xfrm>
            <a:off x="4910328" y="1938528"/>
            <a:ext cx="384048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0328" y="19385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/>
          </a:p>
        </p:txBody>
      </p:sp>
      <p:sp>
        <p:nvSpPr>
          <p:cNvPr id="50" name="Shape 48"/>
          <p:cNvSpPr/>
          <p:nvPr/>
        </p:nvSpPr>
        <p:spPr>
          <a:xfrm>
            <a:off x="5367528" y="1975104"/>
            <a:ext cx="379476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13248" y="1947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$_REQUEST[]</a:t>
            </a:r>
            <a:endParaRPr lang="en-US" sz="1200"/>
          </a:p>
        </p:txBody>
      </p:sp>
      <p:sp>
        <p:nvSpPr>
          <p:cNvPr id="60" name="Shape 58"/>
          <p:cNvSpPr/>
          <p:nvPr/>
        </p:nvSpPr>
        <p:spPr>
          <a:xfrm>
            <a:off x="4910328" y="2221992"/>
            <a:ext cx="384048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10328" y="22311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/>
          </a:p>
        </p:txBody>
      </p:sp>
      <p:sp>
        <p:nvSpPr>
          <p:cNvPr id="62" name="Shape 60"/>
          <p:cNvSpPr/>
          <p:nvPr/>
        </p:nvSpPr>
        <p:spPr>
          <a:xfrm>
            <a:off x="5367528" y="2261815"/>
            <a:ext cx="379476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13248" y="22311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son los Formularios HTML?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entre el usuario y el servidor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8321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15568"/>
            <a:ext cx="73152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17043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formularios HTML permiten al usuario ingresar datos en el navegador y enviarlos al servidor para ser procesados. Son la principal forma de interacción entre el cliente y el servidor en aplicaciones web.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el flujo?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150876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514600"/>
            <a:ext cx="150876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32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👤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548640" y="30906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548640" y="3447288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el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920240" y="31089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64748B"/>
                </a:solidFill>
              </a:rPr>
              <a:t>→</a:t>
            </a:r>
            <a:endParaRPr lang="en-US" sz="1800"/>
          </a:p>
        </p:txBody>
      </p:sp>
      <p:sp>
        <p:nvSpPr>
          <p:cNvPr id="19" name="Shape 17"/>
          <p:cNvSpPr/>
          <p:nvPr/>
        </p:nvSpPr>
        <p:spPr>
          <a:xfrm>
            <a:off x="2167128" y="2514600"/>
            <a:ext cx="150876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67128" y="2514600"/>
            <a:ext cx="15087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67128" y="2532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📤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2212848" y="30906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2212848" y="3447288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en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3584448" y="31089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64748B"/>
                </a:solidFill>
              </a:rPr>
              <a:t>→</a:t>
            </a:r>
            <a:endParaRPr lang="en-US" sz="1800"/>
          </a:p>
        </p:txBody>
      </p:sp>
      <p:sp>
        <p:nvSpPr>
          <p:cNvPr id="25" name="Shape 23"/>
          <p:cNvSpPr/>
          <p:nvPr/>
        </p:nvSpPr>
        <p:spPr>
          <a:xfrm>
            <a:off x="3831336" y="2514600"/>
            <a:ext cx="150876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31336" y="2514600"/>
            <a:ext cx="150876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31336" y="2532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🌐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3877056" y="30906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3877056" y="3447288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 POST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servidor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5248656" y="31089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64748B"/>
                </a:solidFill>
              </a:rPr>
              <a:t>→</a:t>
            </a:r>
            <a:endParaRPr lang="en-US" sz="1800"/>
          </a:p>
        </p:txBody>
      </p:sp>
      <p:sp>
        <p:nvSpPr>
          <p:cNvPr id="31" name="Shape 29"/>
          <p:cNvSpPr/>
          <p:nvPr/>
        </p:nvSpPr>
        <p:spPr>
          <a:xfrm>
            <a:off x="5495544" y="2514600"/>
            <a:ext cx="150876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95544" y="2514600"/>
            <a:ext cx="150876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95544" y="2532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⚙️</a:t>
            </a:r>
            <a:endParaRPr lang="en-US" sz="2200"/>
          </a:p>
        </p:txBody>
      </p:sp>
      <p:sp>
        <p:nvSpPr>
          <p:cNvPr id="34" name="Text 32"/>
          <p:cNvSpPr/>
          <p:nvPr/>
        </p:nvSpPr>
        <p:spPr>
          <a:xfrm>
            <a:off x="5541264" y="30906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5541264" y="3447288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los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6912864" y="31089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64748B"/>
                </a:solidFill>
              </a:rPr>
              <a:t>→</a:t>
            </a:r>
            <a:endParaRPr lang="en-US" sz="1800"/>
          </a:p>
        </p:txBody>
      </p:sp>
      <p:sp>
        <p:nvSpPr>
          <p:cNvPr id="37" name="Shape 35"/>
          <p:cNvSpPr/>
          <p:nvPr/>
        </p:nvSpPr>
        <p:spPr>
          <a:xfrm>
            <a:off x="7159752" y="2514600"/>
            <a:ext cx="150876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59752" y="2514600"/>
            <a:ext cx="150876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59752" y="2532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📄</a:t>
            </a:r>
            <a:endParaRPr lang="en-US" sz="2200"/>
          </a:p>
        </p:txBody>
      </p:sp>
      <p:sp>
        <p:nvSpPr>
          <p:cNvPr id="40" name="Text 38"/>
          <p:cNvSpPr/>
          <p:nvPr/>
        </p:nvSpPr>
        <p:spPr>
          <a:xfrm>
            <a:off x="7205472" y="30906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300"/>
          </a:p>
        </p:txBody>
      </p:sp>
      <p:sp>
        <p:nvSpPr>
          <p:cNvPr id="41" name="Text 39"/>
          <p:cNvSpPr/>
          <p:nvPr/>
        </p:nvSpPr>
        <p:spPr>
          <a:xfrm>
            <a:off x="7205472" y="3447288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de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vuelta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 de un Formulario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&lt;form&gt; y sus atributos clave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438912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15568"/>
            <a:ext cx="438912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133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640080" y="1435608"/>
            <a:ext cx="41605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procesar.php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"&gt;Nombre:&lt;/label&gt;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Enviar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516636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clave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5166360" y="1508760"/>
            <a:ext cx="365760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1508760"/>
            <a:ext cx="1097280" cy="9875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508760"/>
            <a:ext cx="1097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6355080" y="16002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del script PHP que procesa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"procesar.php"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5166360" y="2606040"/>
            <a:ext cx="365760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2606040"/>
            <a:ext cx="1097280" cy="9875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606040"/>
            <a:ext cx="1097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6355080" y="269748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HTTP para enviar datos.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GET o POST.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166360" y="3703320"/>
            <a:ext cx="365760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3703320"/>
            <a:ext cx="1097280" cy="9875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703320"/>
            <a:ext cx="1097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500"/>
          </a:p>
        </p:txBody>
      </p:sp>
      <p:sp>
        <p:nvSpPr>
          <p:cNvPr id="25" name="Text 23"/>
          <p:cNvSpPr/>
          <p:nvPr/>
        </p:nvSpPr>
        <p:spPr>
          <a:xfrm>
            <a:off x="6355080" y="379476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campo. Es la clave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leer el dato en PHP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$_GET o $_POST.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502920" y="3950208"/>
            <a:ext cx="4389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77640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El atributo name del &lt;input&gt; es lo que PHP usa como clave para leer el valor: $_POST['nombre']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Método GET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viajan visibles en la URL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828800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15568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</a:t>
            </a:r>
            <a:endParaRPr lang="en-US" sz="5200"/>
          </a:p>
        </p:txBody>
      </p:sp>
      <p:sp>
        <p:nvSpPr>
          <p:cNvPr id="11" name="Shape 9"/>
          <p:cNvSpPr/>
          <p:nvPr/>
        </p:nvSpPr>
        <p:spPr>
          <a:xfrm>
            <a:off x="2514600" y="1197864"/>
            <a:ext cx="201168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1612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envían en la URL como query string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2514600" y="1673352"/>
            <a:ext cx="201168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6367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Visibles para el usuario en la barra del navegador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2514600" y="2148840"/>
            <a:ext cx="201168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1122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guardarse en favoritos o historial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514600" y="2624328"/>
            <a:ext cx="201168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5877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caracteres (~2000 caracteres en la URL)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2514600" y="3099816"/>
            <a:ext cx="201168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3063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 para datos sensibles (contraseñas, etc.)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2514600" y="3575304"/>
            <a:ext cx="201168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35387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búsquedas y filtros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502920" y="4041648"/>
            <a:ext cx="8321040" cy="658368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resultante: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658368" y="429768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procesar.php</a:t>
            </a:r>
            <a:r>
              <a:rPr lang="en-US" sz="14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4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4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Juan</a:t>
            </a:r>
            <a:r>
              <a:rPr lang="en-US" sz="14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r>
              <a:rPr lang="en-US" sz="14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Método POST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viajan ocultos en el cuerpo del mensaje HTTP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828800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15568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4000"/>
          </a:p>
        </p:txBody>
      </p:sp>
      <p:sp>
        <p:nvSpPr>
          <p:cNvPr id="11" name="Shape 9"/>
          <p:cNvSpPr/>
          <p:nvPr/>
        </p:nvSpPr>
        <p:spPr>
          <a:xfrm>
            <a:off x="2514600" y="1197864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1612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van en el cuerpo de la petición HTTP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2514600" y="1673352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6367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visibles en la URL del navegador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2514600" y="2148840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1122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pueden guardarse directamente en favoritos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514600" y="2624328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5877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 práctico de tamaño de datos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2514600" y="3099816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3063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adecuado para datos sensibles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2514600" y="3575304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35387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formularios de registro, login, etc.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502920" y="4041648"/>
            <a:ext cx="8321040" cy="658368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0599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del mensaje HTTP (invisible para el usuario):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658368" y="429768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4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Juan</a:t>
            </a:r>
            <a:r>
              <a:rPr lang="en-US" sz="14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juan@mail.com</a:t>
            </a:r>
            <a:r>
              <a:rPr lang="en-US" sz="14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r>
              <a:rPr lang="en-US" sz="14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vs POST — Comparación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cada uno?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2560320" y="1115568"/>
            <a:ext cx="30175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1155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</a:t>
            </a:r>
            <a:endParaRPr lang="en-US" sz="1700"/>
          </a:p>
        </p:txBody>
      </p:sp>
      <p:sp>
        <p:nvSpPr>
          <p:cNvPr id="11" name="Shape 9"/>
          <p:cNvSpPr/>
          <p:nvPr/>
        </p:nvSpPr>
        <p:spPr>
          <a:xfrm>
            <a:off x="5669280" y="1115568"/>
            <a:ext cx="30175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1155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170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8321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URL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2542032" y="1627632"/>
            <a:ext cx="36576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 (visibles)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5650992" y="1627632"/>
            <a:ext cx="36576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(ocultos)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02920" y="2093976"/>
            <a:ext cx="832104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1671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tamaño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2542032" y="2148840"/>
            <a:ext cx="36576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167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~2000 caracteres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5650992" y="2148840"/>
            <a:ext cx="36576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2167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 práctico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502920" y="2615184"/>
            <a:ext cx="8321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68833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2542032" y="2670048"/>
            <a:ext cx="36576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26883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Menos seguro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5650992" y="2670048"/>
            <a:ext cx="36576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26883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Más seguro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502920" y="3136392"/>
            <a:ext cx="832104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2095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Caché/Favoritos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2542032" y="3191256"/>
            <a:ext cx="36576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2095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 puede guardar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5650992" y="3191256"/>
            <a:ext cx="36576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32095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se guarda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502920" y="3657600"/>
            <a:ext cx="8321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7307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2542032" y="3712464"/>
            <a:ext cx="36576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51760" y="3730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Búsquedas, filtros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5650992" y="3712464"/>
            <a:ext cx="36576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3730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registro, archivos</a:t>
            </a:r>
            <a:endParaRPr lang="en-US" sz="1200"/>
          </a:p>
        </p:txBody>
      </p:sp>
      <p:sp>
        <p:nvSpPr>
          <p:cNvPr id="43" name="Shape 41"/>
          <p:cNvSpPr/>
          <p:nvPr/>
        </p:nvSpPr>
        <p:spPr>
          <a:xfrm>
            <a:off x="502920" y="4178808"/>
            <a:ext cx="832104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$_SERVER['REQUEST_METHOD']</a:t>
            </a:r>
            <a:endParaRPr lang="en-US" sz="1200"/>
          </a:p>
        </p:txBody>
      </p:sp>
      <p:sp>
        <p:nvSpPr>
          <p:cNvPr id="45" name="Shape 43"/>
          <p:cNvSpPr/>
          <p:nvPr/>
        </p:nvSpPr>
        <p:spPr>
          <a:xfrm>
            <a:off x="2542032" y="4233672"/>
            <a:ext cx="36576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5176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"GET"</a:t>
            </a:r>
            <a:endParaRPr lang="en-US" sz="1200"/>
          </a:p>
        </p:txBody>
      </p:sp>
      <p:sp>
        <p:nvSpPr>
          <p:cNvPr id="47" name="Shape 45"/>
          <p:cNvSpPr/>
          <p:nvPr/>
        </p:nvSpPr>
        <p:spPr>
          <a:xfrm>
            <a:off x="5650992" y="4233672"/>
            <a:ext cx="36576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0" y="4251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"POST"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$_GET[]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Superglobal para leer datos enviados por el método GET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15568"/>
            <a:ext cx="73152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17043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 es un array superglobal de PHP. Contiene todos los datos enviados por el método GET. Las claves del array corresponden al atributo name de cada campo del formulario.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502920" y="1993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Formulario HTML con GET: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411480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304288"/>
            <a:ext cx="411480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322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40080" y="2624328"/>
            <a:ext cx="38862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="procesar.php"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="GET"&gt;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="text"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="nombre"&gt;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="submit"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="Buscar"&gt;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800600" y="1993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Procesar en PHP: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4800600" y="2304288"/>
            <a:ext cx="402336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304288"/>
            <a:ext cx="402336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2322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4937760" y="2624328"/>
            <a:ext cx="37947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procesar.php
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 = 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$_GET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'nombre'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
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"Buscaste: " 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$nombre;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$_POST[]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Superglobal para leer datos enviados por el método POST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15568"/>
            <a:ext cx="73152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17043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$_POST es un array superglobal que contiene los datos enviados por el método POST. Los datos NO aparecen en la URL y son ideales para información sensible como contraseñas o formularios de registro.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502920" y="1993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Formulario HTML con POST: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411480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304288"/>
            <a:ext cx="411480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322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40080" y="2624328"/>
            <a:ext cx="38862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="procesar.php"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="POST"&gt;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="text"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="nombre"&gt;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="submit"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="Enviar"&gt;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800600" y="1993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Procesar en PHP: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4800600" y="2304288"/>
            <a:ext cx="402336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304288"/>
            <a:ext cx="402336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2322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4937760" y="2624328"/>
            <a:ext cx="37947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procesar.php
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 = 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$_POST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'nombre'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
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 nombre es: " 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$nombre;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Ejemplo Completo con POST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registro básico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502920" y="10789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Formulario.php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502920" y="1353312"/>
            <a:ext cx="420624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353312"/>
            <a:ext cx="420624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3716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40080" y="1673352"/>
            <a:ext cx="39776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="procesar.php"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="POST"&gt;
  &lt;label&gt;Nombre:&lt;/label&gt;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="text"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="nombre"&gt;
  &lt;label&gt;Email:&lt;/label&gt;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="email"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="email"&gt;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="submit" </a:t>
            </a:r>
            <a:r>
              <a:rPr lang="en-US" sz="11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="Registrar"&gt;
</a:t>
            </a:r>
            <a:r>
              <a:rPr lang="en-US" sz="11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983480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procesar.php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983480" y="1353312"/>
            <a:ext cx="384048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1353312"/>
            <a:ext cx="384048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13716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5120640" y="1673352"/>
            <a:ext cx="361188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 = 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$_POST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'nombre'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
$email   = 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$_POST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'email'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
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"Bienvenido, "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$nombre;
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 email: "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 $email;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502920" y="4645152"/>
            <a:ext cx="83210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5429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Nunca uses datos de $_POST directamente en HTML sin sanitizarlos. Ver slide de Seguridad.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$_SERVER[]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del servidor y del entorno de ejecución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15568"/>
            <a:ext cx="73152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17043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$_SERVER es un array superglobal que contiene información sobre el servidor web, el cliente y el entorno de ejecución de PHP. No depende de ningún formulario — siempre está disponible en cualquier script PHP.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502920" y="1993392"/>
            <a:ext cx="8321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993392"/>
            <a:ext cx="54864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0482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$_SERVER['PHP_SELF']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3749040" y="2048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/carpeta/procesar.php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6400800" y="2057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del script actual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502920" y="2450592"/>
            <a:ext cx="8321040" cy="420624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450592"/>
            <a:ext cx="54864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505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$_SERVER['SERVER_NAME']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3749040" y="25054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6400800" y="2514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o dominio del servidor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502920" y="2907792"/>
            <a:ext cx="8321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907792"/>
            <a:ext cx="54864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9626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$_SERVER['HTTP_USER_AGENT']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3749040" y="2962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Mozilla/5.0 (Chrome...)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640080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Detalles del navegador cliente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502920" y="3364992"/>
            <a:ext cx="8321040" cy="420624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364992"/>
            <a:ext cx="54864" cy="4206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$_SERVER['REQUEST_METHOD']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3749040" y="3419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o  POST</a:t>
            </a:r>
            <a:endParaRPr lang="en-US" sz="1150"/>
          </a:p>
        </p:txBody>
      </p:sp>
      <p:sp>
        <p:nvSpPr>
          <p:cNvPr id="31" name="Text 29"/>
          <p:cNvSpPr/>
          <p:nvPr/>
        </p:nvSpPr>
        <p:spPr>
          <a:xfrm>
            <a:off x="640080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HTTP de la petición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502920" y="3822192"/>
            <a:ext cx="8321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822192"/>
            <a:ext cx="54864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8770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$_SERVER['REMOTE_ADDR']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3749040" y="3877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192.168.1.10</a:t>
            </a:r>
            <a:endParaRPr lang="en-US" sz="1150"/>
          </a:p>
        </p:txBody>
      </p:sp>
      <p:sp>
        <p:nvSpPr>
          <p:cNvPr id="36" name="Text 34"/>
          <p:cNvSpPr/>
          <p:nvPr/>
        </p:nvSpPr>
        <p:spPr>
          <a:xfrm>
            <a:off x="640080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IP del cliente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502920" y="4279392"/>
            <a:ext cx="8321040" cy="420624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4279392"/>
            <a:ext cx="54864" cy="4206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3342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$_SERVER['QUERY_STRING']</a:t>
            </a:r>
            <a:endParaRPr lang="en-US" sz="1150"/>
          </a:p>
        </p:txBody>
      </p:sp>
      <p:sp>
        <p:nvSpPr>
          <p:cNvPr id="40" name="Text 38"/>
          <p:cNvSpPr/>
          <p:nvPr/>
        </p:nvSpPr>
        <p:spPr>
          <a:xfrm>
            <a:off x="3749040" y="4334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nombre=Juan&amp;edad=25</a:t>
            </a:r>
            <a:endParaRPr lang="en-US" sz="1150"/>
          </a:p>
        </p:txBody>
      </p:sp>
      <p:sp>
        <p:nvSpPr>
          <p:cNvPr id="41" name="Text 39"/>
          <p:cNvSpPr/>
          <p:nvPr/>
        </p:nvSpPr>
        <p:spPr>
          <a:xfrm>
            <a:off x="6400800" y="4343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GET de la URL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$_SERVER[] en el código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prácticos de uso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" y="50034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832104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15568"/>
            <a:ext cx="8321040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133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640080" y="1435608"/>
            <a:ext cx="80924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Ruta del script que se ejecuta
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$_SERVER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'PHP_SELF'</a:t>
            </a:r>
            <a:r>
              <a:rPr lang="en-US" sz="11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       // /carpeta/procesar.php
// Nombre del servidor o dominio
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$_SERVER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'SERVER_NAME'</a:t>
            </a:r>
            <a:r>
              <a:rPr lang="en-US" sz="11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   // localhost
// Saber si fue GET o POST
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$_SERVER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'REQUEST_METHOD'</a:t>
            </a:r>
            <a:r>
              <a:rPr lang="en-US" sz="11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 // GET o POST
// IP del visitante
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$_SERVER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'REMOTE_ADDR'</a:t>
            </a:r>
            <a:r>
              <a:rPr lang="en-US" sz="11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    // 192.168.1.10
// Parámetros en la URL
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$_SERVER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'QUERY_STRING'</a:t>
            </a:r>
            <a:r>
              <a:rPr lang="en-US" sz="11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   // nombre=Juan&amp;edad=25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502920" y="4008711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práctico — detectar el método antes de procesar: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8321040" cy="566928"/>
          </a:xfrm>
          <a:prstGeom prst="rect">
            <a:avLst/>
          </a:prstGeom>
          <a:solidFill>
            <a:srgbClr val="1E293B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233672"/>
            <a:ext cx="8321040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18956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$_SERVER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'REQUEST_METHOD'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=== 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'POST'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 = 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$_POST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'nombre'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$_REQUEST[]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$_GET, $_POST y $_COOKIE en uno solo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15568"/>
            <a:ext cx="73152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17043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$_REQUEST combina los datos de $_GET, $_POST y $_COOKIE en un solo array. Es útil cuando no importa el origen del dato, aunque generalmente no se recomienda por ser menos específico y potencialmente menos seguro.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731520" y="2011680"/>
            <a:ext cx="2743200" cy="2377440"/>
          </a:xfrm>
          <a:prstGeom prst="ellipse">
            <a:avLst/>
          </a:prstGeom>
          <a:solidFill>
            <a:srgbClr val="22C55E">
              <a:alpha val="25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2011680"/>
            <a:ext cx="2743200" cy="2377440"/>
          </a:xfrm>
          <a:prstGeom prst="ellipse">
            <a:avLst/>
          </a:prstGeom>
          <a:solidFill>
            <a:srgbClr val="EF4444">
              <a:alpha val="2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2331720"/>
            <a:ext cx="2743200" cy="2267712"/>
          </a:xfrm>
          <a:prstGeom prst="ellipse">
            <a:avLst/>
          </a:prstGeom>
          <a:solidFill>
            <a:srgbClr val="3B82F6">
              <a:alpha val="2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281448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$_GET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3726180" y="274755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$_POST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1805940" y="4251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$_COOKIE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965960" y="314423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$_REQUEST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5166360" y="2011680"/>
            <a:ext cx="3657600" cy="1901952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2011680"/>
            <a:ext cx="365760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6088" y="20299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5303520" y="2331720"/>
            <a:ext cx="34290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Funciona con GET, POST o COOKIE
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 = 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$_REQUEST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'nombre'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
</a:t>
            </a:r>
            <a:r>
              <a:rPr lang="en-US" sz="11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 nombre es: " </a:t>
            </a:r>
            <a:r>
              <a:rPr lang="en-US" sz="11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$nombre;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5166360" y="4041648"/>
            <a:ext cx="36576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4041648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40965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Preferible usar $_GET o $_POST directamente para mayor claridad y seguridad en el código.</a:t>
            </a:r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Tipos de Campos en Formularios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&lt;input&gt; más comunes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15568"/>
            <a:ext cx="1005840" cy="8595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15568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1600200" y="1152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texto libre de una línea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60020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 name="nombre"&gt;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4818888" y="1115568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8888" y="1115568"/>
            <a:ext cx="1005840" cy="8595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115568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5916168" y="1152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oculto con asteriscos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916168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type="password" name="clave"&gt;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502920" y="2048256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048256"/>
            <a:ext cx="1005840" cy="8595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048256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160020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email con validación HTML5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160020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type="email" name="correo"&gt;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4818888" y="2048256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8888" y="2048256"/>
            <a:ext cx="1005840" cy="8595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048256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5916168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numérico con controles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916168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type="number" name="edad"&gt;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502920" y="2980944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980944"/>
            <a:ext cx="1005840" cy="8595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980944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checkbox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160020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Casilla de selección múltiple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1600200" y="3493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type="checkbox" name="acepto"&gt;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4818888" y="2980944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18888" y="2980944"/>
            <a:ext cx="1005840" cy="8595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2980944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radio</a:t>
            </a:r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5916168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única entre opciones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5916168" y="3493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type="radio" name="genero"&gt;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502920" y="3913632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913632"/>
            <a:ext cx="1005840" cy="85953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913632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00"/>
          </a:p>
        </p:txBody>
      </p:sp>
      <p:sp>
        <p:nvSpPr>
          <p:cNvPr id="42" name="Text 40"/>
          <p:cNvSpPr/>
          <p:nvPr/>
        </p:nvSpPr>
        <p:spPr>
          <a:xfrm>
            <a:off x="1600200" y="3950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desplegable de opciones</a:t>
            </a:r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1600200" y="4425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 name="pais"&gt;&lt;option&gt;...</a:t>
            </a:r>
            <a:endParaRPr lang="en-US" sz="950"/>
          </a:p>
        </p:txBody>
      </p:sp>
      <p:sp>
        <p:nvSpPr>
          <p:cNvPr id="44" name="Shape 42"/>
          <p:cNvSpPr/>
          <p:nvPr/>
        </p:nvSpPr>
        <p:spPr>
          <a:xfrm>
            <a:off x="4818888" y="3913632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18888" y="3913632"/>
            <a:ext cx="1005840" cy="85953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3913632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textarea</a:t>
            </a:r>
            <a:endParaRPr lang="en-US" sz="1400"/>
          </a:p>
        </p:txBody>
      </p:sp>
      <p:sp>
        <p:nvSpPr>
          <p:cNvPr id="47" name="Text 45"/>
          <p:cNvSpPr/>
          <p:nvPr/>
        </p:nvSpPr>
        <p:spPr>
          <a:xfrm>
            <a:off x="5916168" y="3950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texto multilínea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5916168" y="4425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&lt;textarea name="mensaje"&gt;&lt;/textarea&gt;</a:t>
            </a:r>
            <a:endParaRPr lang="en-US" sz="9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Superglobales de PHP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Arrays </a:t>
            </a:r>
            <a:r>
              <a:rPr lang="en-US" sz="13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disponibles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cualquier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parte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del </a:t>
            </a:r>
            <a:r>
              <a:rPr lang="en-US" sz="13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código</a:t>
            </a:r>
            <a:endParaRPr lang="en-US" sz="1300" err="1"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15568"/>
            <a:ext cx="1325880" cy="8595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115568"/>
            <a:ext cx="1289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$_GET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1920240" y="11612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enviados por el método GET (URL).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1920240" y="16184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Búsquedas, filtros, paginación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4818888" y="1115568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8888" y="1115568"/>
            <a:ext cx="1325880" cy="8595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1115568"/>
            <a:ext cx="1289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$_POST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6236208" y="11612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enviados por el método POST (cuerpo HTTP).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236208" y="16184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Registro, login, formularios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502920" y="2048256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048256"/>
            <a:ext cx="1325880" cy="8595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2048256"/>
            <a:ext cx="1289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$_REQUEST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1920240" y="209397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GET + POST + COOKIE.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1920240" y="25511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Casos simples, no recomendado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818888" y="2048256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8888" y="2048256"/>
            <a:ext cx="1325880" cy="8595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7176" y="2048256"/>
            <a:ext cx="1289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$_SERVER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6236208" y="209397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del servidor y entorno PHP.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6236208" y="25511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Detectar método, IP, URL actual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502920" y="2980944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980944"/>
            <a:ext cx="1325880" cy="8595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2980944"/>
            <a:ext cx="1289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1920240" y="30266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persistentes entre páginas.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1920240" y="3483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Login, carrito de compras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4818888" y="2980944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18888" y="2980944"/>
            <a:ext cx="1325880" cy="8595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7176" y="2980944"/>
            <a:ext cx="1289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$_COOKIE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6236208" y="30266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almacenados en el navegador del usuario.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236208" y="3483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Recordar usuario, preferencias</a:t>
            </a:r>
            <a:endParaRPr lang="en-US" sz="1050"/>
          </a:p>
        </p:txBody>
      </p:sp>
      <p:sp>
        <p:nvSpPr>
          <p:cNvPr id="39" name="Shape 37"/>
          <p:cNvSpPr/>
          <p:nvPr/>
        </p:nvSpPr>
        <p:spPr>
          <a:xfrm>
            <a:off x="502920" y="3913632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913632"/>
            <a:ext cx="1325880" cy="85953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" y="3913632"/>
            <a:ext cx="1289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$_FILES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1920240" y="39593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subidos mediante formularios.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1920240" y="4416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Subir imágenes, documentos</a:t>
            </a:r>
            <a:endParaRPr lang="en-US" sz="1050"/>
          </a:p>
        </p:txBody>
      </p:sp>
      <p:sp>
        <p:nvSpPr>
          <p:cNvPr id="44" name="Shape 42"/>
          <p:cNvSpPr/>
          <p:nvPr/>
        </p:nvSpPr>
        <p:spPr>
          <a:xfrm>
            <a:off x="4818888" y="3913632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18888" y="3913632"/>
            <a:ext cx="1325880" cy="85953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37176" y="3913632"/>
            <a:ext cx="1289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$_ENV</a:t>
            </a:r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6236208" y="39593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del servidor.</a:t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6236208" y="4416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Configuración, credenciales</a:t>
            </a:r>
            <a:endParaRPr lang="en-US" sz="1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4937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Buenas Prácticas en Formularios PHP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para un formulario seguro y funcional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823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en PHP  •  Mag. Tomás Calderón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41148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15568"/>
            <a:ext cx="411480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✅</a:t>
            </a:r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1161288" y="12801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método POST para datos sensibles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1161288" y="16459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Contraseñas, datos personales, tarjetas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818888" y="1115568"/>
            <a:ext cx="41148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8888" y="1115568"/>
            <a:ext cx="411480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🔐</a:t>
            </a:r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5477256" y="12801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Sanitizar siempre con htmlspecialchars()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477256" y="16459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mostrar cualquier dato en HTML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02920" y="2350008"/>
            <a:ext cx="41148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350008"/>
            <a:ext cx="41148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✔️</a:t>
            </a:r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1161288" y="25146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 el servidor, no solo en el cliente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161288" y="28803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JS del cliente puede desactivarse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4818888" y="2350008"/>
            <a:ext cx="41148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8888" y="2350008"/>
            <a:ext cx="411480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🧹</a:t>
            </a:r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5477256" y="25146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trim() antes de validar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5477256" y="28803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espacios accidentales en los campos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502920" y="3584448"/>
            <a:ext cx="41148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584448"/>
            <a:ext cx="411480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🔍</a:t>
            </a:r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1161288" y="37490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REQUEST_METHOD antes de procesar</a:t>
            </a:r>
            <a:endParaRPr lang="en-US" sz="1300"/>
          </a:p>
        </p:txBody>
      </p:sp>
      <p:sp>
        <p:nvSpPr>
          <p:cNvPr id="33" name="Text 31"/>
          <p:cNvSpPr/>
          <p:nvPr/>
        </p:nvSpPr>
        <p:spPr>
          <a:xfrm>
            <a:off x="1161288" y="41148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errores si se accede sin enviar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4818888" y="3584448"/>
            <a:ext cx="41148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18888" y="3584448"/>
            <a:ext cx="41148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⚠️</a:t>
            </a:r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5477256" y="37490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confiar en datos del usuario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5477256" y="41148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asumir que pueden ser maliciosos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64024"/>
            <a:ext cx="6400800" cy="3794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¡Lo aprendido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hoy!</a:t>
            </a:r>
            <a:endParaRPr lang="en-US" sz="4000"/>
          </a:p>
        </p:txBody>
      </p:sp>
      <p:sp>
        <p:nvSpPr>
          <p:cNvPr id="7" name="Shape 5"/>
          <p:cNvSpPr/>
          <p:nvPr/>
        </p:nvSpPr>
        <p:spPr>
          <a:xfrm>
            <a:off x="548640" y="2207032"/>
            <a:ext cx="36576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14016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37744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formularios HTML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164592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6426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GET — datos visibles en la URL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90779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POST — datos ocultos en HTTP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164592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17296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$_GET[] y $_POST[]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43814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$_SERVER[] — entorno del servidor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548640" y="3739896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70332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$_REQUEST[] — combina GET + POST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97419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generales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6492240" y="13716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FFFFF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3600"/>
          </a:p>
        </p:txBody>
      </p:sp>
      <p:sp>
        <p:nvSpPr>
          <p:cNvPr id="27" name="Text 25"/>
          <p:cNvSpPr/>
          <p:nvPr/>
        </p:nvSpPr>
        <p:spPr>
          <a:xfrm>
            <a:off x="6492240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Mag. Tomás Calderón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6492240" y="3547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DSVII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57F1D7237E895408E1CDC5B8278107B" ma:contentTypeVersion="10" ma:contentTypeDescription="Crear nuevo documento." ma:contentTypeScope="" ma:versionID="fde09fbaab07680dfa4d1568911e4787">
  <xsd:schema xmlns:xsd="http://www.w3.org/2001/XMLSchema" xmlns:xs="http://www.w3.org/2001/XMLSchema" xmlns:p="http://schemas.microsoft.com/office/2006/metadata/properties" xmlns:ns2="5e8f54ad-ddc9-466e-becb-47ddc0d2abde" xmlns:ns3="277a641c-123d-4d79-b272-d60a57294ef7" targetNamespace="http://schemas.microsoft.com/office/2006/metadata/properties" ma:root="true" ma:fieldsID="badd5f2953129ad013da0d7b8ca2ba47" ns2:_="" ns3:_="">
    <xsd:import namespace="5e8f54ad-ddc9-466e-becb-47ddc0d2abde"/>
    <xsd:import namespace="277a641c-123d-4d79-b272-d60a57294e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8f54ad-ddc9-466e-becb-47ddc0d2ab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1348c8ee-fc48-4349-a3df-b5c7dc9d70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a641c-123d-4d79-b272-d60a57294ef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ea4cb33-8525-461c-aebb-08aee7e5a9a5}" ma:internalName="TaxCatchAll" ma:showField="CatchAllData" ma:web="277a641c-123d-4d79-b272-d60a57294e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77a641c-123d-4d79-b272-d60a57294ef7" xsi:nil="true"/>
    <lcf76f155ced4ddcb4097134ff3c332f xmlns="5e8f54ad-ddc9-466e-becb-47ddc0d2abd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0FD2991-4C01-4148-A24B-FA3428E586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AA749E-E831-4255-94C1-4A58F4D03EA1}">
  <ds:schemaRefs>
    <ds:schemaRef ds:uri="277a641c-123d-4d79-b272-d60a57294ef7"/>
    <ds:schemaRef ds:uri="5e8f54ad-ddc9-466e-becb-47ddc0d2ab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A35DA42-819F-42D3-93A9-07FE8E509623}">
  <ds:schemaRefs>
    <ds:schemaRef ds:uri="277a641c-123d-4d79-b272-d60a57294ef7"/>
    <ds:schemaRef ds:uri="5e8f54ad-ddc9-466e-becb-47ddc0d2abd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Formularios en PHP</dc:title>
  <dc:subject>PptxGenJS Presentation</dc:subject>
  <dc:creator>PptxGenJS</dc:creator>
  <cp:revision>1</cp:revision>
  <dcterms:created xsi:type="dcterms:W3CDTF">2026-03-17T16:06:38Z</dcterms:created>
  <dcterms:modified xsi:type="dcterms:W3CDTF">2026-04-21T23:56:42Z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0x010100557F1D7237E895408E1CDC5B8278107B</vt:lpwstr>
  </property>
  <property fmtid="{D5CDD505-2E9C-101B-9397-08002B2CF9AE}" pid="3" name="MediaServiceImageTags">
    <vt:lpwstr/>
  </property>
</Properties>
</file>