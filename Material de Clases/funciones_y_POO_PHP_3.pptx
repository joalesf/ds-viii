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29"/>
  </p:notesMasterIdLst>
  <p:handoutMasterIdLst>
    <p:handoutMasterId r:id="rId30"/>
  </p:handoutMasterIdLst>
  <p:sldIdLst>
    <p:sldId id="276" r:id="rId5"/>
    <p:sldId id="257" r:id="rId6"/>
    <p:sldId id="279" r:id="rId7"/>
    <p:sldId id="256" r:id="rId8"/>
    <p:sldId id="281" r:id="rId9"/>
    <p:sldId id="299" r:id="rId10"/>
    <p:sldId id="300" r:id="rId11"/>
    <p:sldId id="301" r:id="rId12"/>
    <p:sldId id="302" r:id="rId13"/>
    <p:sldId id="293" r:id="rId14"/>
    <p:sldId id="303" r:id="rId15"/>
    <p:sldId id="304" r:id="rId16"/>
    <p:sldId id="305" r:id="rId17"/>
    <p:sldId id="306" r:id="rId18"/>
    <p:sldId id="307" r:id="rId19"/>
    <p:sldId id="294" r:id="rId20"/>
    <p:sldId id="308" r:id="rId21"/>
    <p:sldId id="309" r:id="rId22"/>
    <p:sldId id="310" r:id="rId23"/>
    <p:sldId id="311" r:id="rId24"/>
    <p:sldId id="314" r:id="rId25"/>
    <p:sldId id="312" r:id="rId26"/>
    <p:sldId id="313" r:id="rId27"/>
    <p:sldId id="29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7CD97-710D-E1B4-39D8-CE48DD2CFB37}" v="1" dt="2026-04-08T01:01:48.613"/>
    <p1510:client id="{257B775D-7DD8-7E24-09BF-5BCB42448BA7}" v="2" dt="2026-04-08T00:49:38.503"/>
    <p1510:client id="{3279E6FA-B2E5-27A1-FAB3-D6CF268B6948}" v="5" dt="2026-04-07T23:46:36.548"/>
    <p1510:client id="{CE00BB2C-199F-C21F-6749-EBA8555B989F}" v="1" dt="2026-04-07T23:57:31.462"/>
  </p1510:revLst>
</p1510:revInfo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OSPINA" userId="S::santiago.ospina@utp.ac.pa::1fb02e42-674b-4464-aa72-58c197420f5a" providerId="AD" clId="Web-{CE00BB2C-199F-C21F-6749-EBA8555B989F}"/>
    <pc:docChg chg="modSld">
      <pc:chgData name="SANTIAGO OSPINA" userId="S::santiago.ospina@utp.ac.pa::1fb02e42-674b-4464-aa72-58c197420f5a" providerId="AD" clId="Web-{CE00BB2C-199F-C21F-6749-EBA8555B989F}" dt="2026-04-07T23:57:31.462" v="0" actId="1076"/>
      <pc:docMkLst>
        <pc:docMk/>
      </pc:docMkLst>
      <pc:sldChg chg="modSp">
        <pc:chgData name="SANTIAGO OSPINA" userId="S::santiago.ospina@utp.ac.pa::1fb02e42-674b-4464-aa72-58c197420f5a" providerId="AD" clId="Web-{CE00BB2C-199F-C21F-6749-EBA8555B989F}" dt="2026-04-07T23:57:31.462" v="0" actId="1076"/>
        <pc:sldMkLst>
          <pc:docMk/>
          <pc:sldMk cId="1360509798" sldId="309"/>
        </pc:sldMkLst>
        <pc:spChg chg="mod">
          <ac:chgData name="SANTIAGO OSPINA" userId="S::santiago.ospina@utp.ac.pa::1fb02e42-674b-4464-aa72-58c197420f5a" providerId="AD" clId="Web-{CE00BB2C-199F-C21F-6749-EBA8555B989F}" dt="2026-04-07T23:57:31.462" v="0" actId="1076"/>
          <ac:spMkLst>
            <pc:docMk/>
            <pc:sldMk cId="1360509798" sldId="309"/>
            <ac:spMk id="4" creationId="{00000000-0000-0000-0000-000000000000}"/>
          </ac:spMkLst>
        </pc:spChg>
      </pc:sldChg>
    </pc:docChg>
  </pc:docChgLst>
  <pc:docChgLst>
    <pc:chgData name="ELIEZER LOPEZ" userId="S::eliezer.lopez@utp.ac.pa::9b6d424f-7c94-4416-90a7-0172083bdfa5" providerId="AD" clId="Web-{0E17CD97-710D-E1B4-39D8-CE48DD2CFB37}"/>
    <pc:docChg chg="modSld">
      <pc:chgData name="ELIEZER LOPEZ" userId="S::eliezer.lopez@utp.ac.pa::9b6d424f-7c94-4416-90a7-0172083bdfa5" providerId="AD" clId="Web-{0E17CD97-710D-E1B4-39D8-CE48DD2CFB37}" dt="2026-04-08T01:01:48.613" v="0" actId="14100"/>
      <pc:docMkLst>
        <pc:docMk/>
      </pc:docMkLst>
      <pc:sldChg chg="modSp">
        <pc:chgData name="ELIEZER LOPEZ" userId="S::eliezer.lopez@utp.ac.pa::9b6d424f-7c94-4416-90a7-0172083bdfa5" providerId="AD" clId="Web-{0E17CD97-710D-E1B4-39D8-CE48DD2CFB37}" dt="2026-04-08T01:01:48.613" v="0" actId="14100"/>
        <pc:sldMkLst>
          <pc:docMk/>
          <pc:sldMk cId="2334647513" sldId="314"/>
        </pc:sldMkLst>
        <pc:spChg chg="mod">
          <ac:chgData name="ELIEZER LOPEZ" userId="S::eliezer.lopez@utp.ac.pa::9b6d424f-7c94-4416-90a7-0172083bdfa5" providerId="AD" clId="Web-{0E17CD97-710D-E1B4-39D8-CE48DD2CFB37}" dt="2026-04-08T01:01:48.613" v="0" actId="14100"/>
          <ac:spMkLst>
            <pc:docMk/>
            <pc:sldMk cId="2334647513" sldId="314"/>
            <ac:spMk id="7" creationId="{00000000-0000-0000-0000-000000000000}"/>
          </ac:spMkLst>
        </pc:spChg>
      </pc:sldChg>
    </pc:docChg>
  </pc:docChgLst>
  <pc:docChgLst>
    <pc:chgData name="JOSE CANTO" userId="S::jose.canto6@utp.ac.pa::86e9872a-6b56-4657-a92d-d928e29b8dd6" providerId="AD" clId="Web-{257B775D-7DD8-7E24-09BF-5BCB42448BA7}"/>
    <pc:docChg chg="modSld">
      <pc:chgData name="JOSE CANTO" userId="S::jose.canto6@utp.ac.pa::86e9872a-6b56-4657-a92d-d928e29b8dd6" providerId="AD" clId="Web-{257B775D-7DD8-7E24-09BF-5BCB42448BA7}" dt="2026-04-08T00:49:38.503" v="1" actId="20577"/>
      <pc:docMkLst>
        <pc:docMk/>
      </pc:docMkLst>
      <pc:sldChg chg="modSp">
        <pc:chgData name="JOSE CANTO" userId="S::jose.canto6@utp.ac.pa::86e9872a-6b56-4657-a92d-d928e29b8dd6" providerId="AD" clId="Web-{257B775D-7DD8-7E24-09BF-5BCB42448BA7}" dt="2026-04-08T00:49:38.503" v="1" actId="20577"/>
        <pc:sldMkLst>
          <pc:docMk/>
          <pc:sldMk cId="374436398" sldId="311"/>
        </pc:sldMkLst>
        <pc:spChg chg="mod">
          <ac:chgData name="JOSE CANTO" userId="S::jose.canto6@utp.ac.pa::86e9872a-6b56-4657-a92d-d928e29b8dd6" providerId="AD" clId="Web-{257B775D-7DD8-7E24-09BF-5BCB42448BA7}" dt="2026-04-08T00:49:38.503" v="1" actId="20577"/>
          <ac:spMkLst>
            <pc:docMk/>
            <pc:sldMk cId="374436398" sldId="311"/>
            <ac:spMk id="4" creationId="{00000000-0000-0000-0000-000000000000}"/>
          </ac:spMkLst>
        </pc:spChg>
      </pc:sldChg>
    </pc:docChg>
  </pc:docChgLst>
  <pc:docChgLst>
    <pc:chgData name="OMAR NAVAS" userId="S::omar.navas@utp.ac.pa::46200e24-38ae-4e8e-8c84-28444311c63d" providerId="AD" clId="Web-{3279E6FA-B2E5-27A1-FAB3-D6CF268B6948}"/>
    <pc:docChg chg="modSld">
      <pc:chgData name="OMAR NAVAS" userId="S::omar.navas@utp.ac.pa::46200e24-38ae-4e8e-8c84-28444311c63d" providerId="AD" clId="Web-{3279E6FA-B2E5-27A1-FAB3-D6CF268B6948}" dt="2026-04-07T23:46:34.048" v="1" actId="20577"/>
      <pc:docMkLst>
        <pc:docMk/>
      </pc:docMkLst>
      <pc:sldChg chg="modSp">
        <pc:chgData name="OMAR NAVAS" userId="S::omar.navas@utp.ac.pa::46200e24-38ae-4e8e-8c84-28444311c63d" providerId="AD" clId="Web-{3279E6FA-B2E5-27A1-FAB3-D6CF268B6948}" dt="2026-04-07T23:46:34.048" v="1" actId="20577"/>
        <pc:sldMkLst>
          <pc:docMk/>
          <pc:sldMk cId="2841478693" sldId="279"/>
        </pc:sldMkLst>
        <pc:spChg chg="mod">
          <ac:chgData name="OMAR NAVAS" userId="S::omar.navas@utp.ac.pa::46200e24-38ae-4e8e-8c84-28444311c63d" providerId="AD" clId="Web-{3279E6FA-B2E5-27A1-FAB3-D6CF268B6948}" dt="2026-04-07T23:46:34.048" v="1" actId="20577"/>
          <ac:spMkLst>
            <pc:docMk/>
            <pc:sldMk cId="2841478693" sldId="279"/>
            <ac:spMk id="13" creationId="{C146FDA7-C55B-77D0-271E-0523A6F7F1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6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01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02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9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72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690542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855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349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031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364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173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70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134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246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437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77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  <a:p>
            <a:pPr lvl="2"/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841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91271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68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6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89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91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49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80706"/>
            <a:ext cx="12192000" cy="38772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988" y="540000"/>
            <a:ext cx="3884962" cy="2011680"/>
          </a:xfrm>
        </p:spPr>
        <p:txBody>
          <a:bodyPr anchor="ctr" anchorCtr="0"/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54584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3552" y="540000"/>
            <a:ext cx="6107460" cy="201168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>
              <a:defRPr sz="1800"/>
            </a:lvl2pPr>
            <a:lvl3pPr marL="720000" indent="0">
              <a:buNone/>
              <a:defRPr sz="1800"/>
            </a:lvl3pPr>
            <a:lvl4pPr>
              <a:defRPr sz="1800"/>
            </a:lvl4pPr>
            <a:lvl5pPr marL="1440000" indent="0">
              <a:buNone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DB4AB8-A251-1D19-89FE-D1E389DC72CE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40988" y="3487738"/>
            <a:ext cx="11110023" cy="2486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74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99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8640"/>
            <a:ext cx="10058400" cy="1097280"/>
          </a:xfr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288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6B5DAE-9335-B3AD-445C-296C2E06A2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2650" y="2441575"/>
            <a:ext cx="10058400" cy="3450265"/>
          </a:xfrm>
        </p:spPr>
        <p:txBody>
          <a:bodyPr/>
          <a:lstStyle>
            <a:lvl1pPr marL="283464" indent="-283464">
              <a:defRPr/>
            </a:lvl1pPr>
            <a:lvl2pPr marL="283464" indent="0">
              <a:defRPr/>
            </a:lvl2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48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2585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52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Funciones</a:t>
            </a:r>
            <a:r>
              <a:rPr lang="en-US"/>
              <a:t> de PHP</a:t>
            </a:r>
            <a:br>
              <a:rPr lang="en-US"/>
            </a:br>
            <a:r>
              <a:rPr lang="en-US"/>
              <a:t>y poo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COnstantes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469709"/>
            <a:ext cx="5534626" cy="1254406"/>
          </a:xfrm>
        </p:spPr>
        <p:txBody>
          <a:bodyPr/>
          <a:lstStyle/>
          <a:p>
            <a:pPr marL="359410" indent="-359410">
              <a:buClr>
                <a:srgbClr val="EF8C6A"/>
              </a:buClr>
            </a:pP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define();</a:t>
            </a:r>
          </a:p>
          <a:p>
            <a:pPr marL="359410" indent="-359410">
              <a:buClr>
                <a:srgbClr val="EF8C6A"/>
              </a:buClr>
            </a:pPr>
            <a:endParaRPr lang="en-US" b="1">
              <a:ea typeface="+mn-lt"/>
              <a:cs typeface="+mn-lt"/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>
                <a:ea typeface="+mn-lt"/>
                <a:cs typeface="+mn-lt"/>
              </a:rPr>
              <a:t>define("NOMBRE_CONSTANTE", valor, [</a:t>
            </a:r>
            <a:r>
              <a:rPr lang="en-US" b="1" err="1">
                <a:ea typeface="+mn-lt"/>
                <a:cs typeface="+mn-lt"/>
              </a:rPr>
              <a:t>case_insensitive</a:t>
            </a:r>
            <a:r>
              <a:rPr lang="en-US" b="1">
                <a:ea typeface="+mn-lt"/>
                <a:cs typeface="+mn-lt"/>
              </a:rPr>
              <a:t> = false]);</a:t>
            </a:r>
            <a:endParaRPr lang="en-US" b="1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F7FA-557B-82FA-0B3B-B29A88184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699" y="1142744"/>
            <a:ext cx="6118224" cy="821417"/>
          </a:xfrm>
        </p:spPr>
        <p:txBody>
          <a:bodyPr/>
          <a:lstStyle/>
          <a:p>
            <a:r>
              <a:rPr lang="en-US" err="1"/>
              <a:t>constantes</a:t>
            </a:r>
          </a:p>
        </p:txBody>
      </p:sp>
      <p:pic>
        <p:nvPicPr>
          <p:cNvPr id="12" name="Picture Placeholder 11" descr="A cartoon of a person with question marks above his head&#10;&#10;Description automatically generated">
            <a:extLst>
              <a:ext uri="{FF2B5EF4-FFF2-40B4-BE49-F238E27FC236}">
                <a16:creationId xmlns:a16="http://schemas.microsoft.com/office/drawing/2014/main" id="{DEBEC4A2-3A33-BE53-76C4-07807E47088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20407" b="20407"/>
          <a:stretch/>
        </p:blipFill>
        <p:spPr/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30C9B6E-2EFD-0E37-B19A-89DA6D3A1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78733FD-6E48-9376-5E94-E32E54B4BC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46FDA7-C55B-77D0-271E-0523A6F7F122}"/>
              </a:ext>
            </a:extLst>
          </p:cNvPr>
          <p:cNvSpPr txBox="1"/>
          <p:nvPr/>
        </p:nvSpPr>
        <p:spPr>
          <a:xfrm>
            <a:off x="1490869" y="2484782"/>
            <a:ext cx="5002695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defined()</a:t>
            </a:r>
          </a:p>
          <a:p>
            <a:endParaRPr lang="en-US" b="1"/>
          </a:p>
          <a:p>
            <a:r>
              <a:rPr lang="en-US">
                <a:ea typeface="+mn-lt"/>
                <a:cs typeface="+mn-lt"/>
              </a:rPr>
              <a:t>if (defined("PI")) </a:t>
            </a:r>
          </a:p>
          <a:p>
            <a:r>
              <a:rPr lang="en-US">
                <a:ea typeface="+mn-lt"/>
                <a:cs typeface="+mn-lt"/>
              </a:rPr>
              <a:t>{ </a:t>
            </a:r>
          </a:p>
          <a:p>
            <a:r>
              <a:rPr lang="en-US">
                <a:ea typeface="+mn-lt"/>
                <a:cs typeface="+mn-lt"/>
              </a:rPr>
              <a:t> echo "La </a:t>
            </a:r>
            <a:r>
              <a:rPr lang="en-US" err="1">
                <a:ea typeface="+mn-lt"/>
                <a:cs typeface="+mn-lt"/>
              </a:rPr>
              <a:t>constante</a:t>
            </a:r>
            <a:r>
              <a:rPr lang="en-US">
                <a:ea typeface="+mn-lt"/>
                <a:cs typeface="+mn-lt"/>
              </a:rPr>
              <a:t> PI </a:t>
            </a:r>
            <a:r>
              <a:rPr lang="en-US" err="1">
                <a:ea typeface="+mn-lt"/>
                <a:cs typeface="+mn-lt"/>
              </a:rPr>
              <a:t>está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definida</a:t>
            </a:r>
            <a:r>
              <a:rPr lang="en-US">
                <a:ea typeface="+mn-lt"/>
                <a:cs typeface="+mn-lt"/>
              </a:rPr>
              <a:t>.";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}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else </a:t>
            </a:r>
          </a:p>
          <a:p>
            <a:r>
              <a:rPr lang="en-US">
                <a:ea typeface="+mn-lt"/>
                <a:cs typeface="+mn-lt"/>
              </a:rPr>
              <a:t>{ </a:t>
            </a:r>
          </a:p>
          <a:p>
            <a:r>
              <a:rPr lang="en-US">
                <a:ea typeface="+mn-lt"/>
                <a:cs typeface="+mn-lt"/>
              </a:rPr>
              <a:t> echo "La </a:t>
            </a:r>
            <a:r>
              <a:rPr lang="en-US" err="1">
                <a:ea typeface="+mn-lt"/>
                <a:cs typeface="+mn-lt"/>
              </a:rPr>
              <a:t>constante</a:t>
            </a:r>
            <a:r>
              <a:rPr lang="en-US">
                <a:ea typeface="+mn-lt"/>
                <a:cs typeface="+mn-lt"/>
              </a:rPr>
              <a:t> PI no </a:t>
            </a:r>
            <a:r>
              <a:rPr lang="en-US" err="1">
                <a:ea typeface="+mn-lt"/>
                <a:cs typeface="+mn-lt"/>
              </a:rPr>
              <a:t>está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definida</a:t>
            </a:r>
            <a:r>
              <a:rPr lang="en-US">
                <a:ea typeface="+mn-lt"/>
                <a:cs typeface="+mn-lt"/>
              </a:rPr>
              <a:t>."; </a:t>
            </a:r>
          </a:p>
          <a:p>
            <a:r>
              <a:rPr lang="en-US">
                <a:ea typeface="+mn-lt"/>
                <a:cs typeface="+mn-lt"/>
              </a:rPr>
              <a:t>} 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247D771-80E8-483C-AA35-919971E2D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795" y="1079500"/>
            <a:ext cx="4449086" cy="2138400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err="1"/>
              <a:t>constantes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C3F3DE7-4288-44D0-9E2E-8E5B9936A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57" y="4113213"/>
            <a:ext cx="5142555" cy="1655762"/>
          </a:xfrm>
        </p:spPr>
        <p:txBody>
          <a:bodyPr vert="horz" lIns="0" tIns="0" rIns="0" bIns="0" rtlCol="0" anchor="t" anchorCtr="0">
            <a:normAutofit/>
          </a:bodyPr>
          <a:lstStyle/>
          <a:p>
            <a:pPr algn="l"/>
            <a:r>
              <a:rPr lang="en-US" b="1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define("PI", 3.14);</a:t>
            </a:r>
            <a:endParaRPr lang="en-US" b="1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b="1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constant("PI"); // Salida: 3.14</a:t>
            </a:r>
            <a:endParaRPr lang="en-US" b="1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25000"/>
              </a:lnSpc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4" name="Picture Placeholder 3" descr="A close-up of a box&#10;&#10;Description automatically generated">
            <a:extLst>
              <a:ext uri="{FF2B5EF4-FFF2-40B4-BE49-F238E27FC236}">
                <a16:creationId xmlns:a16="http://schemas.microsoft.com/office/drawing/2014/main" id="{9CA07F7F-B4DA-38F6-6665-2DF82A5911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165" r="8165"/>
          <a:stretch/>
        </p:blipFill>
        <p:spPr>
          <a:xfrm>
            <a:off x="540989" y="1510652"/>
            <a:ext cx="4443761" cy="3836695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09338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/>
            <a:r>
              <a:rPr lang="en-US" sz="2400" b="1" err="1">
                <a:solidFill>
                  <a:srgbClr val="FFFFFF">
                    <a:alpha val="70000"/>
                  </a:srgbClr>
                </a:solidFill>
              </a:rPr>
              <a:t>isset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</a:rPr>
              <a:t>()</a:t>
            </a:r>
          </a:p>
          <a:p>
            <a:pPr marL="283210" indent="-283210">
              <a:buClr>
                <a:srgbClr val="EF8C6A"/>
              </a:buClr>
            </a:pPr>
            <a:endParaRPr lang="en-US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nombre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= "Juan"; </a:t>
            </a:r>
          </a:p>
          <a:p>
            <a:pPr marL="283210" indent="-283210">
              <a:buClr>
                <a:srgbClr val="EF8C6A"/>
              </a:buClr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if (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isset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($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nombre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)) </a:t>
            </a:r>
          </a:p>
          <a:p>
            <a:pPr marL="283210" indent="-283210">
              <a:buClr>
                <a:srgbClr val="EF8C6A"/>
              </a:buClr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{ </a:t>
            </a:r>
          </a:p>
          <a:p>
            <a:pPr marL="283210" lvl="1">
              <a:buClr>
                <a:srgbClr val="EF8C6A"/>
              </a:buClr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 echo "La variable '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nombre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'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está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definida</a:t>
            </a: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."; </a:t>
            </a:r>
            <a:endParaRPr lang="en-US" i="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} 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/>
            <a:r>
              <a:rPr lang="en-US" sz="2400" b="1">
                <a:solidFill>
                  <a:srgbClr val="FFFFFF">
                    <a:alpha val="70000"/>
                  </a:srgbClr>
                </a:solidFill>
              </a:rPr>
              <a:t>empty()</a:t>
            </a:r>
          </a:p>
          <a:p>
            <a:pPr marL="283210" indent="-283210"/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$variable = ""; </a:t>
            </a:r>
          </a:p>
          <a:p>
            <a:pPr marL="283210" indent="-283210"/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if (empty($variable)) {</a:t>
            </a:r>
          </a:p>
          <a:p>
            <a:pPr marL="283210" indent="-283210"/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 echo "La variable </a:t>
            </a:r>
            <a:r>
              <a:rPr lang="en-US" sz="2400" err="1">
                <a:solidFill>
                  <a:srgbClr val="FFFFFF">
                    <a:alpha val="70000"/>
                  </a:srgbClr>
                </a:solidFill>
              </a:rPr>
              <a:t>está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 </a:t>
            </a:r>
            <a:r>
              <a:rPr lang="en-US" sz="2400" err="1">
                <a:solidFill>
                  <a:srgbClr val="FFFFFF">
                    <a:alpha val="70000"/>
                  </a:srgbClr>
                </a:solidFill>
              </a:rPr>
              <a:t>vacía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."; </a:t>
            </a:r>
          </a:p>
          <a:p>
            <a:pPr marL="283210" indent="-283210"/>
            <a:r>
              <a:rPr lang="en-US" sz="2400">
                <a:solidFill>
                  <a:srgbClr val="FFFFFF">
                    <a:alpha val="70000"/>
                  </a:srgbClr>
                </a:solidFill>
              </a:rPr>
              <a:t>} </a:t>
            </a: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3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/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unset()</a:t>
            </a:r>
          </a:p>
          <a:p>
            <a:pPr marL="283210" indent="-283210">
              <a:buClr>
                <a:srgbClr val="EF8C6A"/>
              </a:buClr>
            </a:pPr>
            <a:endParaRPr lang="en-US" sz="2400" b="1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$variable = "Hola";</a:t>
            </a:r>
            <a:endParaRPr lang="en-US"/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unset($variable);</a:t>
            </a:r>
            <a:endParaRPr lang="en-US"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70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/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gettype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</a:p>
          <a:p>
            <a:pPr marL="283210" indent="-283210">
              <a:buClr>
                <a:srgbClr val="EF8C6A"/>
              </a:buClr>
            </a:pPr>
            <a:endParaRPr lang="en-US" sz="240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$variable = 3.14; </a:t>
            </a:r>
            <a:endParaRPr lang="en-US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</a:t>
            </a:r>
            <a:r>
              <a:rPr lang="en-US" sz="24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gettype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($variable); // Salida: double 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>
              <a:buClr>
                <a:srgbClr val="EF8C6A"/>
              </a:buClr>
            </a:pP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39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/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settype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</a:p>
          <a:p>
            <a:pPr marL="283210" indent="-283210">
              <a:buClr>
                <a:srgbClr val="EF8C6A"/>
              </a:buClr>
            </a:pPr>
            <a:endParaRPr lang="en-US" sz="240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$variable = "123";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 sz="24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settype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($variable, "integer");</a:t>
            </a:r>
            <a:endParaRPr lang="en-US"/>
          </a:p>
          <a:p>
            <a:pPr marL="283210" indent="-283210">
              <a:buClr>
                <a:srgbClr val="EF8C6A"/>
              </a:buClr>
            </a:pP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</a:t>
            </a:r>
            <a:r>
              <a:rPr lang="en-US" sz="24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gettype</a:t>
            </a:r>
            <a:r>
              <a:rPr lang="en-US" sz="240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($variable); // Salida: integer</a:t>
            </a:r>
            <a:endParaRPr lang="en-US"/>
          </a:p>
          <a:p>
            <a:pPr marL="283210" indent="-283210">
              <a:buClr>
                <a:srgbClr val="EF8C6A"/>
              </a:buClr>
            </a:pP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>
              <a:buClr>
                <a:srgbClr val="EF8C6A"/>
              </a:buClr>
            </a:pP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55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8AAD-ED41-A5A5-C08E-89B0C4F5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9837-86F8-E190-7724-905421C336A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strlen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  <a:endParaRPr lang="en-US" sz="2400" b="1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"Hola Mundo";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echo </a:t>
            </a:r>
            <a:r>
              <a:rPr lang="en-US" err="1">
                <a:ea typeface="+mn-lt"/>
                <a:cs typeface="+mn-lt"/>
              </a:rPr>
              <a:t>strlen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); // Salida: 10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F103D-6A11-7052-0475-B28F957A9B6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endParaRPr lang="en-US"/>
          </a:p>
        </p:txBody>
      </p:sp>
      <p:pic>
        <p:nvPicPr>
          <p:cNvPr id="5" name="Picture 4" descr="A group of blocks with letters&#10;&#10;Description automatically generated">
            <a:extLst>
              <a:ext uri="{FF2B5EF4-FFF2-40B4-BE49-F238E27FC236}">
                <a16:creationId xmlns:a16="http://schemas.microsoft.com/office/drawing/2014/main" id="{3FB98743-9D5B-7A5C-25CD-B30AB5045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465" y="2493137"/>
            <a:ext cx="2769426" cy="257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7D1-460F-B5C4-662B-66FBD8628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5" name="Content Placeholder 4" descr="A group of people holding light bulbs&#10;&#10;Description automatically generated">
            <a:extLst>
              <a:ext uri="{FF2B5EF4-FFF2-40B4-BE49-F238E27FC236}">
                <a16:creationId xmlns:a16="http://schemas.microsoft.com/office/drawing/2014/main" id="{9FA1877A-0E63-64EA-BB44-3C1E69F54300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1754984" y="2483278"/>
            <a:ext cx="2057400" cy="22193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4C1C5-5957-AEEF-8A92-ECF7A4DDF5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04739" y="2483395"/>
            <a:ext cx="5971315" cy="3595774"/>
          </a:xfrm>
        </p:spPr>
        <p:txBody>
          <a:bodyPr/>
          <a:lstStyle/>
          <a:p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str_replace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  <a:endParaRPr lang="en-US" b="1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"Hola Mundo";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nueva_cadena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str_replace</a:t>
            </a:r>
            <a:r>
              <a:rPr lang="en-US">
                <a:ea typeface="+mn-lt"/>
                <a:cs typeface="+mn-lt"/>
              </a:rPr>
              <a:t>("Mundo", "PHP", 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echo $</a:t>
            </a:r>
            <a:r>
              <a:rPr lang="en-US" err="1">
                <a:ea typeface="+mn-lt"/>
                <a:cs typeface="+mn-lt"/>
              </a:rPr>
              <a:t>nueva_cadena</a:t>
            </a:r>
            <a:r>
              <a:rPr lang="en-US">
                <a:ea typeface="+mn-lt"/>
                <a:cs typeface="+mn-lt"/>
              </a:rPr>
              <a:t>; // Salida: Hola PHP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00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EA3A-F337-BBA2-E43F-B0255299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E376-E176-FA94-28B6-59466E3F840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strpos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();</a:t>
            </a:r>
            <a:endParaRPr lang="en-US" b="1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"Hola Mundo";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posicion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strpos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, "Mundo");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echo $</a:t>
            </a:r>
            <a:r>
              <a:rPr lang="en-US" err="1">
                <a:ea typeface="+mn-lt"/>
                <a:cs typeface="+mn-lt"/>
              </a:rPr>
              <a:t>posicion</a:t>
            </a:r>
            <a:r>
              <a:rPr lang="en-US">
                <a:ea typeface="+mn-lt"/>
                <a:cs typeface="+mn-lt"/>
              </a:rPr>
              <a:t>; // Salida: 5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5" name="Content Placeholder 4" descr="A map with red pin pointers&#10;&#10;Description automatically generated">
            <a:extLst>
              <a:ext uri="{FF2B5EF4-FFF2-40B4-BE49-F238E27FC236}">
                <a16:creationId xmlns:a16="http://schemas.microsoft.com/office/drawing/2014/main" id="{6FB6CF5C-495E-6EE9-030E-D69F92B17CA4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7206207" y="2688960"/>
            <a:ext cx="3481583" cy="2065359"/>
          </a:xfrm>
        </p:spPr>
      </p:pic>
    </p:spTree>
    <p:extLst>
      <p:ext uri="{BB962C8B-B14F-4D97-AF65-F5344CB8AC3E}">
        <p14:creationId xmlns:p14="http://schemas.microsoft.com/office/powerpoint/2010/main" val="2720573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2DE8-83E1-99A6-3A04-C6174272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5" name="Content Placeholder 4" descr="A purple and white text on a blue background&#10;&#10;Description automatically generated">
            <a:extLst>
              <a:ext uri="{FF2B5EF4-FFF2-40B4-BE49-F238E27FC236}">
                <a16:creationId xmlns:a16="http://schemas.microsoft.com/office/drawing/2014/main" id="{B2FAEA74-F8C8-2943-C37E-B377CE06F045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796696" y="2342722"/>
            <a:ext cx="5302685" cy="299170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8705A-11DA-E121-985A-A6AB11D3A8C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substr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  <a:endParaRPr lang="en-US" sz="240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"Hola Mundo";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echo </a:t>
            </a:r>
            <a:r>
              <a:rPr lang="en-US" err="1">
                <a:ea typeface="+mn-lt"/>
                <a:cs typeface="+mn-lt"/>
              </a:rPr>
              <a:t>substr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, 5); // Salida: Mundo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echo </a:t>
            </a:r>
            <a:r>
              <a:rPr lang="en-US" err="1">
                <a:ea typeface="+mn-lt"/>
                <a:cs typeface="+mn-lt"/>
              </a:rPr>
              <a:t>substr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, 0, 4); // Salida: Hola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B22F-09EE-8B33-1A4C-43449384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3DE02-4D5F-4D79-FF3F-ECFC73F2EED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19178" y="2494357"/>
            <a:ext cx="5643365" cy="3615066"/>
          </a:xfrm>
        </p:spPr>
        <p:txBody>
          <a:bodyPr/>
          <a:lstStyle/>
          <a:p>
            <a:r>
              <a:rPr lang="en-US" sz="2400" b="1" err="1">
                <a:ea typeface="+mn-lt"/>
                <a:cs typeface="+mn-lt"/>
              </a:rPr>
              <a:t>strtolower</a:t>
            </a:r>
            <a:r>
              <a:rPr lang="en-US" sz="2400" b="1">
                <a:ea typeface="+mn-lt"/>
                <a:cs typeface="+mn-lt"/>
              </a:rPr>
              <a:t>()</a:t>
            </a: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b="1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strtoupper</a:t>
            </a:r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()</a:t>
            </a:r>
            <a:endParaRPr lang="en-US" sz="2400" b="1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"Hola Mundo";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echo </a:t>
            </a:r>
            <a:r>
              <a:rPr lang="en-US" err="1">
                <a:ea typeface="+mn-lt"/>
                <a:cs typeface="+mn-lt"/>
              </a:rPr>
              <a:t>strtoupper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); // Salida: HOLA MUNDO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echo </a:t>
            </a:r>
            <a:r>
              <a:rPr lang="en-US" err="1">
                <a:ea typeface="+mn-lt"/>
                <a:cs typeface="+mn-lt"/>
              </a:rPr>
              <a:t>strtolower</a:t>
            </a:r>
            <a:r>
              <a:rPr lang="en-US">
                <a:ea typeface="+mn-lt"/>
                <a:cs typeface="+mn-lt"/>
              </a:rPr>
              <a:t>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); // Salida: hola mundo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5" name="Content Placeholder 4" descr="A blue letter a and a&#10;&#10;Description automatically generated">
            <a:extLst>
              <a:ext uri="{FF2B5EF4-FFF2-40B4-BE49-F238E27FC236}">
                <a16:creationId xmlns:a16="http://schemas.microsoft.com/office/drawing/2014/main" id="{F5C6573D-FCF2-6B6A-75BD-D0527DD26189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7150036" y="2597226"/>
            <a:ext cx="3020871" cy="2422846"/>
          </a:xfrm>
        </p:spPr>
      </p:pic>
    </p:spTree>
    <p:extLst>
      <p:ext uri="{BB962C8B-B14F-4D97-AF65-F5344CB8AC3E}">
        <p14:creationId xmlns:p14="http://schemas.microsoft.com/office/powerpoint/2010/main" val="366883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6EE4-69BD-EC6D-A86C-C6F7199C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5" name="Content Placeholder 4" descr="A row of hair clippers&#10;&#10;Description automatically generated">
            <a:extLst>
              <a:ext uri="{FF2B5EF4-FFF2-40B4-BE49-F238E27FC236}">
                <a16:creationId xmlns:a16="http://schemas.microsoft.com/office/drawing/2014/main" id="{079E7395-E56E-40AD-25EB-3A02E2D0EA82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796696" y="2256481"/>
            <a:ext cx="4029206" cy="268401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FC330-A206-66EC-31C6-63639627A9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59649" y="2482602"/>
            <a:ext cx="4924178" cy="3605420"/>
          </a:xfrm>
        </p:spPr>
        <p:txBody>
          <a:bodyPr/>
          <a:lstStyle/>
          <a:p>
            <a:r>
              <a:rPr lang="en-US" sz="2400" b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trim()</a:t>
            </a:r>
            <a:endParaRPr lang="en-US" sz="2400" b="1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 = "  Hola Mundo  ";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>
                <a:ea typeface="+mn-lt"/>
                <a:cs typeface="+mn-lt"/>
              </a:rPr>
              <a:t>echo trim($</a:t>
            </a:r>
            <a:r>
              <a:rPr lang="en-US" err="1">
                <a:ea typeface="+mn-lt"/>
                <a:cs typeface="+mn-lt"/>
              </a:rPr>
              <a:t>cadena</a:t>
            </a:r>
            <a:r>
              <a:rPr lang="en-US">
                <a:ea typeface="+mn-lt"/>
                <a:cs typeface="+mn-lt"/>
              </a:rPr>
              <a:t>); // Salida: "Hola Mundo"</a:t>
            </a:r>
            <a:endParaRPr lang="en-US"/>
          </a:p>
          <a:p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3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matemáticas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D284-61C4-B17C-FCD3-9FA9070D219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231948" y="3199984"/>
            <a:ext cx="6308077" cy="230428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abs(-5); // Salida: 5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round(3.6); // Salida: 4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ceil(3.3); // Salida: 4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floor(3.7); // Salida: 3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pow(2, 3); // Salida: 8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sqrt(16); // Salida: 4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echo sin(pi()/2); // Salida: 1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cos(0); // Salida: 1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tan(pi()/4); // Salida: 1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asin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(1);  // Salida: 1.5708 (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equivalente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a pi/2)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log(10); // Salida: 2.302585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exp(1); // Salida: 2.718281828459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rand(); // Salida: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número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aleatorio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r>
              <a:rPr lang="en-US">
                <a:solidFill>
                  <a:srgbClr val="FFFFFF">
                    <a:alpha val="70000"/>
                  </a:srgbClr>
                </a:solidFill>
              </a:rPr>
              <a:t>echo rand(1, 10); // Salida: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número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</a:t>
            </a:r>
            <a:r>
              <a:rPr lang="en-US" err="1">
                <a:solidFill>
                  <a:srgbClr val="FFFFFF">
                    <a:alpha val="70000"/>
                  </a:srgbClr>
                </a:solidFill>
              </a:rPr>
              <a:t>aleatorio</a:t>
            </a:r>
            <a:r>
              <a:rPr lang="en-US">
                <a:solidFill>
                  <a:srgbClr val="FFFFFF">
                    <a:alpha val="70000"/>
                  </a:srgbClr>
                </a:solidFill>
              </a:rPr>
              <a:t> entre 1 y 10 </a:t>
            </a: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511810" indent="-51181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511810" indent="-511810">
              <a:buClr>
                <a:srgbClr val="E2B588"/>
              </a:buClr>
              <a:buFont typeface="Arial"/>
              <a:buChar char="•"/>
            </a:pPr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pic>
        <p:nvPicPr>
          <p:cNvPr id="5" name="Picture 4" descr="A collage of a person&#10;&#10;Description automatically generated">
            <a:extLst>
              <a:ext uri="{FF2B5EF4-FFF2-40B4-BE49-F238E27FC236}">
                <a16:creationId xmlns:a16="http://schemas.microsoft.com/office/drawing/2014/main" id="{088A1A46-338B-60B2-C498-CBD851E6D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82" y="2279737"/>
            <a:ext cx="4338182" cy="346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43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/>
              <a:t>POO</a:t>
            </a:r>
            <a:endParaRPr lang="es-PA" b="1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s-PA" sz="2000" b="1"/>
              <a:t>Declaración de una clase</a:t>
            </a:r>
          </a:p>
          <a:p>
            <a:pPr marL="0" indent="0">
              <a:buNone/>
            </a:pPr>
            <a:r>
              <a:rPr lang="es-ES"/>
              <a:t>En PHP se declara con la palabra clave </a:t>
            </a:r>
            <a:r>
              <a:rPr lang="es-ES" err="1"/>
              <a:t>class</a:t>
            </a:r>
            <a:r>
              <a:rPr lang="es-ES"/>
              <a:t>. 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8"/>
          </p:nvPr>
        </p:nvSpPr>
        <p:spPr>
          <a:xfrm>
            <a:off x="8525884" y="3290856"/>
            <a:ext cx="3139401" cy="2574120"/>
          </a:xfrm>
        </p:spPr>
        <p:txBody>
          <a:bodyPr/>
          <a:lstStyle/>
          <a:p>
            <a:r>
              <a:rPr lang="es-PA"/>
              <a:t>&lt;?</a:t>
            </a:r>
            <a:r>
              <a:rPr lang="es-PA" err="1"/>
              <a:t>php</a:t>
            </a:r>
            <a:endParaRPr lang="es-PA"/>
          </a:p>
          <a:p>
            <a:r>
              <a:rPr lang="es-PA" err="1"/>
              <a:t>class</a:t>
            </a:r>
            <a:r>
              <a:rPr lang="es-PA"/>
              <a:t> Persona {</a:t>
            </a:r>
          </a:p>
          <a:p>
            <a:r>
              <a:rPr lang="es-PA"/>
              <a:t>    // Propiedades</a:t>
            </a:r>
          </a:p>
          <a:p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$nombre;</a:t>
            </a:r>
          </a:p>
          <a:p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$edad;</a:t>
            </a:r>
          </a:p>
          <a:p>
            <a:r>
              <a:rPr lang="es-PA"/>
              <a:t>}</a:t>
            </a:r>
          </a:p>
          <a:p>
            <a:r>
              <a:rPr lang="es-PA"/>
              <a:t>?&gt;</a:t>
            </a:r>
          </a:p>
          <a:p>
            <a:endParaRPr lang="es-PA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785" y="2662590"/>
            <a:ext cx="5107536" cy="3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32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015955" y="2256090"/>
            <a:ext cx="3657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/>
              <a:t>&lt;?</a:t>
            </a:r>
            <a:r>
              <a:rPr lang="es-PA" err="1"/>
              <a:t>php</a:t>
            </a:r>
            <a:endParaRPr lang="es-PA"/>
          </a:p>
          <a:p>
            <a:r>
              <a:rPr lang="es-PA" err="1"/>
              <a:t>class</a:t>
            </a:r>
            <a:r>
              <a:rPr lang="es-PA"/>
              <a:t> Persona {</a:t>
            </a:r>
          </a:p>
          <a:p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$nombre;       // Público</a:t>
            </a:r>
          </a:p>
          <a:p>
            <a:r>
              <a:rPr lang="es-PA"/>
              <a:t>    </a:t>
            </a:r>
            <a:r>
              <a:rPr lang="es-PA" err="1"/>
              <a:t>private</a:t>
            </a:r>
            <a:r>
              <a:rPr lang="es-PA"/>
              <a:t> $edad;        // Privado</a:t>
            </a:r>
          </a:p>
          <a:p>
            <a:endParaRPr lang="es-PA"/>
          </a:p>
          <a:p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</a:t>
            </a:r>
            <a:r>
              <a:rPr lang="es-PA" err="1"/>
              <a:t>function</a:t>
            </a:r>
            <a:r>
              <a:rPr lang="es-PA"/>
              <a:t> </a:t>
            </a:r>
            <a:r>
              <a:rPr lang="es-PA" err="1"/>
              <a:t>setEdad</a:t>
            </a:r>
            <a:r>
              <a:rPr lang="es-PA"/>
              <a:t>($e) {</a:t>
            </a:r>
          </a:p>
          <a:p>
            <a:r>
              <a:rPr lang="es-PA"/>
              <a:t>        $</a:t>
            </a:r>
            <a:r>
              <a:rPr lang="es-PA" err="1"/>
              <a:t>this</a:t>
            </a:r>
            <a:r>
              <a:rPr lang="es-PA"/>
              <a:t>-&gt;edad = $e;</a:t>
            </a:r>
          </a:p>
          <a:p>
            <a:r>
              <a:rPr lang="es-PA"/>
              <a:t>    }</a:t>
            </a:r>
          </a:p>
          <a:p>
            <a:endParaRPr lang="es-PA"/>
          </a:p>
          <a:p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</a:t>
            </a:r>
            <a:r>
              <a:rPr lang="es-PA" err="1"/>
              <a:t>function</a:t>
            </a:r>
            <a:r>
              <a:rPr lang="es-PA"/>
              <a:t> </a:t>
            </a:r>
            <a:r>
              <a:rPr lang="es-PA" err="1"/>
              <a:t>getEdad</a:t>
            </a:r>
            <a:r>
              <a:rPr lang="es-PA"/>
              <a:t>() {</a:t>
            </a:r>
          </a:p>
          <a:p>
            <a:r>
              <a:rPr lang="es-PA"/>
              <a:t>        </a:t>
            </a:r>
            <a:r>
              <a:rPr lang="es-PA" err="1"/>
              <a:t>return</a:t>
            </a:r>
            <a:r>
              <a:rPr lang="es-PA"/>
              <a:t> $</a:t>
            </a:r>
            <a:r>
              <a:rPr lang="es-PA" err="1"/>
              <a:t>this</a:t>
            </a:r>
            <a:r>
              <a:rPr lang="es-PA"/>
              <a:t>-&gt;edad;</a:t>
            </a:r>
          </a:p>
          <a:p>
            <a:r>
              <a:rPr lang="es-PA"/>
              <a:t>    }</a:t>
            </a:r>
          </a:p>
          <a:p>
            <a:r>
              <a:rPr lang="es-PA"/>
              <a:t>}</a:t>
            </a:r>
          </a:p>
          <a:p>
            <a:r>
              <a:rPr lang="es-PA"/>
              <a:t>?&gt;</a:t>
            </a:r>
          </a:p>
          <a:p>
            <a:endParaRPr lang="es-PA"/>
          </a:p>
        </p:txBody>
      </p:sp>
      <p:sp>
        <p:nvSpPr>
          <p:cNvPr id="3" name="CuadroTexto 2"/>
          <p:cNvSpPr txBox="1"/>
          <p:nvPr/>
        </p:nvSpPr>
        <p:spPr>
          <a:xfrm>
            <a:off x="1418602" y="290557"/>
            <a:ext cx="6452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000" b="1">
                <a:latin typeface="Arial" panose="020B0604020202020204" pitchFamily="34" charset="0"/>
                <a:cs typeface="Arial" panose="020B0604020202020204" pitchFamily="34" charset="0"/>
              </a:rPr>
              <a:t>Miembros privados y públicos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316194" y="1116518"/>
            <a:ext cx="852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tx1">
                    <a:lumMod val="75000"/>
                  </a:schemeClr>
                </a:solidFill>
              </a:rPr>
              <a:t>Los </a:t>
            </a:r>
            <a:r>
              <a:rPr lang="es-ES" b="1">
                <a:solidFill>
                  <a:schemeClr val="tx1">
                    <a:lumMod val="75000"/>
                  </a:schemeClr>
                </a:solidFill>
              </a:rPr>
              <a:t>miembros públicos</a:t>
            </a:r>
            <a:r>
              <a:rPr lang="es-ES">
                <a:solidFill>
                  <a:schemeClr val="tx1">
                    <a:lumMod val="75000"/>
                  </a:schemeClr>
                </a:solidFill>
              </a:rPr>
              <a:t> pueden ser accedidos desde cualquier parte del código.</a:t>
            </a:r>
            <a:br>
              <a:rPr lang="es-ES">
                <a:solidFill>
                  <a:schemeClr val="tx1">
                    <a:lumMod val="75000"/>
                  </a:schemeClr>
                </a:solidFill>
              </a:rPr>
            </a:br>
            <a:r>
              <a:rPr lang="es-ES">
                <a:solidFill>
                  <a:schemeClr val="tx1">
                    <a:lumMod val="75000"/>
                  </a:schemeClr>
                </a:solidFill>
              </a:rPr>
              <a:t>Los </a:t>
            </a:r>
            <a:r>
              <a:rPr lang="es-ES" b="1">
                <a:solidFill>
                  <a:schemeClr val="tx1">
                    <a:lumMod val="75000"/>
                  </a:schemeClr>
                </a:solidFill>
              </a:rPr>
              <a:t>miembros privados</a:t>
            </a:r>
            <a:r>
              <a:rPr lang="es-ES">
                <a:solidFill>
                  <a:schemeClr val="tx1">
                    <a:lumMod val="75000"/>
                  </a:schemeClr>
                </a:solidFill>
              </a:rPr>
              <a:t> solo desde dentro de la misma clase.</a:t>
            </a:r>
            <a:endParaRPr lang="es-PA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72" y="2802091"/>
            <a:ext cx="6144482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9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04957" y="358923"/>
            <a:ext cx="627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PA"/>
          </a:p>
        </p:txBody>
      </p:sp>
      <p:sp>
        <p:nvSpPr>
          <p:cNvPr id="3" name="CuadroTexto 2"/>
          <p:cNvSpPr txBox="1"/>
          <p:nvPr/>
        </p:nvSpPr>
        <p:spPr>
          <a:xfrm>
            <a:off x="-401654" y="728255"/>
            <a:ext cx="5888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000" b="1"/>
              <a:t>Creación de Objetos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204957" y="1497697"/>
            <a:ext cx="3777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/>
              <a:t>&lt;?</a:t>
            </a:r>
            <a:r>
              <a:rPr lang="es-PA" err="1"/>
              <a:t>php</a:t>
            </a:r>
            <a:endParaRPr lang="es-PA"/>
          </a:p>
          <a:p>
            <a:r>
              <a:rPr lang="es-PA"/>
              <a:t>$persona1 = new Persona();</a:t>
            </a:r>
          </a:p>
          <a:p>
            <a:r>
              <a:rPr lang="es-PA"/>
              <a:t>$persona1-&gt;nombre = "Juan";</a:t>
            </a:r>
          </a:p>
          <a:p>
            <a:r>
              <a:rPr lang="es-PA"/>
              <a:t>$persona1-&gt;</a:t>
            </a:r>
            <a:r>
              <a:rPr lang="es-PA" err="1"/>
              <a:t>setEdad</a:t>
            </a:r>
            <a:r>
              <a:rPr lang="es-PA"/>
              <a:t>(25);</a:t>
            </a:r>
          </a:p>
          <a:p>
            <a:r>
              <a:rPr lang="es-PA"/>
              <a:t>?&gt;</a:t>
            </a:r>
          </a:p>
          <a:p>
            <a:endParaRPr lang="es-PA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560" y="2228398"/>
            <a:ext cx="6058746" cy="199100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84561" y="3871245"/>
            <a:ext cx="472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/>
              <a:t>Acceso a los miembros de un objeto</a:t>
            </a:r>
            <a:endParaRPr lang="es-PA" sz="2000" b="1"/>
          </a:p>
        </p:txBody>
      </p:sp>
      <p:sp>
        <p:nvSpPr>
          <p:cNvPr id="7" name="CuadroTexto 6"/>
          <p:cNvSpPr txBox="1"/>
          <p:nvPr/>
        </p:nvSpPr>
        <p:spPr>
          <a:xfrm>
            <a:off x="384561" y="4589092"/>
            <a:ext cx="90140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&lt;?</a:t>
            </a:r>
            <a:r>
              <a:rPr lang="es-ES" err="1"/>
              <a:t>php</a:t>
            </a:r>
            <a:endParaRPr lang="es-ES"/>
          </a:p>
          <a:p>
            <a:r>
              <a:rPr lang="es-ES"/>
              <a:t>echo $persona1-&gt;nombre;      // Accede a propiedad pública</a:t>
            </a:r>
          </a:p>
          <a:p>
            <a:r>
              <a:rPr lang="es-ES"/>
              <a:t>echo $persona1-&gt;</a:t>
            </a:r>
            <a:r>
              <a:rPr lang="es-ES" err="1"/>
              <a:t>getEdad</a:t>
            </a:r>
            <a:r>
              <a:rPr lang="es-ES"/>
              <a:t>();   // Accede a propiedad privada mediante método público</a:t>
            </a:r>
          </a:p>
          <a:p>
            <a:r>
              <a:rPr lang="es-ES"/>
              <a:t>?&gt;</a:t>
            </a:r>
          </a:p>
          <a:p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585203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441" y="474648"/>
            <a:ext cx="10026650" cy="655637"/>
          </a:xfrm>
        </p:spPr>
        <p:txBody>
          <a:bodyPr/>
          <a:lstStyle/>
          <a:p>
            <a:r>
              <a:rPr lang="es-PA"/>
              <a:t>Constructores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554766" y="474648"/>
            <a:ext cx="5713755" cy="6267984"/>
          </a:xfrm>
        </p:spPr>
        <p:txBody>
          <a:bodyPr>
            <a:normAutofit fontScale="70000" lnSpcReduction="20000"/>
          </a:bodyPr>
          <a:lstStyle/>
          <a:p>
            <a:pPr marL="359410" indent="-359410"/>
            <a:r>
              <a:rPr lang="es-PA"/>
              <a:t>&lt;?</a:t>
            </a:r>
            <a:r>
              <a:rPr lang="es-PA" err="1"/>
              <a:t>php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 err="1"/>
              <a:t>class</a:t>
            </a:r>
            <a:r>
              <a:rPr lang="es-PA"/>
              <a:t> Persona {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$nombre;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/>
              <a:t>    </a:t>
            </a:r>
            <a:r>
              <a:rPr lang="es-PA" err="1"/>
              <a:t>private</a:t>
            </a:r>
            <a:r>
              <a:rPr lang="es-PA"/>
              <a:t> $edad;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endParaRPr lang="es-PA"/>
          </a:p>
          <a:p>
            <a:pPr marL="359410" indent="-359410"/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</a:t>
            </a:r>
            <a:r>
              <a:rPr lang="es-PA" err="1"/>
              <a:t>function</a:t>
            </a:r>
            <a:r>
              <a:rPr lang="es-PA"/>
              <a:t> __</a:t>
            </a:r>
            <a:r>
              <a:rPr lang="es-PA" err="1"/>
              <a:t>construct</a:t>
            </a:r>
            <a:r>
              <a:rPr lang="es-PA"/>
              <a:t>($nombre, $edad) {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/>
              <a:t>        $</a:t>
            </a:r>
            <a:r>
              <a:rPr lang="es-PA" err="1"/>
              <a:t>this</a:t>
            </a:r>
            <a:r>
              <a:rPr lang="es-PA"/>
              <a:t>-&gt;nom bre = $nombre;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/>
              <a:t>        $</a:t>
            </a:r>
            <a:r>
              <a:rPr lang="es-PA" err="1"/>
              <a:t>this</a:t>
            </a:r>
            <a:r>
              <a:rPr lang="es-PA"/>
              <a:t>-&gt;edad = $edad;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r>
              <a:rPr lang="es-PA"/>
              <a:t>    }</a:t>
            </a:r>
          </a:p>
          <a:p>
            <a:endParaRPr lang="es-PA"/>
          </a:p>
          <a:p>
            <a:pPr marL="359410" indent="-359410"/>
            <a:r>
              <a:rPr lang="es-PA"/>
              <a:t>    </a:t>
            </a:r>
            <a:r>
              <a:rPr lang="es-PA" err="1"/>
              <a:t>public</a:t>
            </a:r>
            <a:r>
              <a:rPr lang="es-PA"/>
              <a:t> </a:t>
            </a:r>
            <a:r>
              <a:rPr lang="es-PA" err="1"/>
              <a:t>function</a:t>
            </a:r>
            <a:r>
              <a:rPr lang="es-PA"/>
              <a:t> mostrar() {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/>
            <a:r>
              <a:rPr lang="es-PA"/>
              <a:t>        echo "Nombre: $</a:t>
            </a:r>
            <a:r>
              <a:rPr lang="es-PA" err="1"/>
              <a:t>this</a:t>
            </a:r>
            <a:r>
              <a:rPr lang="es-PA"/>
              <a:t>-&gt;nombre, Edad: $</a:t>
            </a:r>
            <a:r>
              <a:rPr lang="es-PA" err="1"/>
              <a:t>this</a:t>
            </a:r>
            <a:r>
              <a:rPr lang="es-PA"/>
              <a:t>-&gt;edad";</a:t>
            </a:r>
            <a:endParaRPr lang="es-PA">
              <a:solidFill>
                <a:srgbClr val="FFFFFF">
                  <a:alpha val="70000"/>
                </a:srgbClr>
              </a:solidFill>
            </a:endParaRPr>
          </a:p>
          <a:p>
            <a:r>
              <a:rPr lang="es-PA"/>
              <a:t>    }</a:t>
            </a:r>
          </a:p>
          <a:p>
            <a:r>
              <a:rPr lang="es-PA"/>
              <a:t>}</a:t>
            </a:r>
          </a:p>
          <a:p>
            <a:endParaRPr lang="es-PA"/>
          </a:p>
          <a:p>
            <a:r>
              <a:rPr lang="es-PA"/>
              <a:t>$persona2 = new Persona("Ana", 30);</a:t>
            </a:r>
          </a:p>
          <a:p>
            <a:r>
              <a:rPr lang="es-PA"/>
              <a:t>$persona2-&gt;mostrar();</a:t>
            </a:r>
          </a:p>
          <a:p>
            <a:r>
              <a:rPr lang="es-PA"/>
              <a:t>?&gt;</a:t>
            </a:r>
          </a:p>
          <a:p>
            <a:endParaRPr lang="es-PA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541441" y="1299535"/>
            <a:ext cx="34925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s-PA" altLang="es-PA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</a:t>
            </a:r>
            <a:r>
              <a:rPr kumimoji="0" lang="es-PA" altLang="es-P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 método especial que se ejecuta automáticamente al crear un objeto.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A" altLang="es-P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PHP se llama </a:t>
            </a:r>
            <a:r>
              <a:rPr kumimoji="0" lang="es-PA" altLang="es-PA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__</a:t>
            </a:r>
            <a:r>
              <a:rPr kumimoji="0" lang="es-PA" altLang="es-PA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construct</a:t>
            </a:r>
            <a:r>
              <a:rPr kumimoji="0" lang="es-PA" altLang="es-PA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s-PA" altLang="es-P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92" y="360864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7489" y="283561"/>
            <a:ext cx="3629232" cy="655637"/>
          </a:xfrm>
        </p:spPr>
        <p:txBody>
          <a:bodyPr/>
          <a:lstStyle/>
          <a:p>
            <a:pPr algn="ctr"/>
            <a:r>
              <a:rPr lang="es-PA"/>
              <a:t>Herencia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>
          <a:xfrm>
            <a:off x="6938568" y="124270"/>
            <a:ext cx="4740150" cy="6737814"/>
          </a:xfrm>
        </p:spPr>
        <p:txBody>
          <a:bodyPr>
            <a:normAutofit fontScale="25000" lnSpcReduction="20000"/>
          </a:bodyPr>
          <a:lstStyle/>
          <a:p>
            <a:r>
              <a:rPr lang="es-PA" sz="3600" b="1"/>
              <a:t>&lt;?</a:t>
            </a:r>
            <a:r>
              <a:rPr lang="es-PA" sz="3600" b="1" err="1"/>
              <a:t>php</a:t>
            </a:r>
            <a:endParaRPr lang="es-PA" sz="3600" b="1"/>
          </a:p>
          <a:p>
            <a:r>
              <a:rPr lang="es-PA" sz="3600" b="1" err="1"/>
              <a:t>class</a:t>
            </a:r>
            <a:r>
              <a:rPr lang="es-PA" sz="3600" b="1"/>
              <a:t> Persona {</a:t>
            </a:r>
          </a:p>
          <a:p>
            <a:r>
              <a:rPr lang="es-PA" sz="3600" b="1"/>
              <a:t>    </a:t>
            </a:r>
            <a:r>
              <a:rPr lang="es-PA" sz="3600" b="1" err="1"/>
              <a:t>protected</a:t>
            </a:r>
            <a:r>
              <a:rPr lang="es-PA" sz="3600" b="1"/>
              <a:t> $nombre;</a:t>
            </a:r>
          </a:p>
          <a:p>
            <a:r>
              <a:rPr lang="es-PA" sz="3600" b="1"/>
              <a:t>    </a:t>
            </a:r>
            <a:r>
              <a:rPr lang="es-PA" sz="3600" b="1" err="1"/>
              <a:t>public</a:t>
            </a:r>
            <a:r>
              <a:rPr lang="es-PA" sz="3600" b="1"/>
              <a:t> </a:t>
            </a:r>
            <a:r>
              <a:rPr lang="es-PA" sz="3600" b="1" err="1"/>
              <a:t>function</a:t>
            </a:r>
            <a:r>
              <a:rPr lang="es-PA" sz="3600" b="1"/>
              <a:t> __</a:t>
            </a:r>
            <a:r>
              <a:rPr lang="es-PA" sz="3600" b="1" err="1"/>
              <a:t>construct</a:t>
            </a:r>
            <a:r>
              <a:rPr lang="es-PA" sz="3600" b="1"/>
              <a:t>($nombre) {</a:t>
            </a:r>
          </a:p>
          <a:p>
            <a:r>
              <a:rPr lang="es-PA" sz="3600" b="1"/>
              <a:t>        $</a:t>
            </a:r>
            <a:r>
              <a:rPr lang="es-PA" sz="3600" b="1" err="1"/>
              <a:t>this</a:t>
            </a:r>
            <a:r>
              <a:rPr lang="es-PA" sz="3600" b="1"/>
              <a:t>-&gt;nombre = $nombre;</a:t>
            </a:r>
          </a:p>
          <a:p>
            <a:r>
              <a:rPr lang="es-PA" sz="3600" b="1"/>
              <a:t>    }</a:t>
            </a:r>
          </a:p>
          <a:p>
            <a:r>
              <a:rPr lang="es-PA" sz="3600" b="1"/>
              <a:t>    </a:t>
            </a:r>
            <a:r>
              <a:rPr lang="es-PA" sz="3600" b="1" err="1"/>
              <a:t>public</a:t>
            </a:r>
            <a:r>
              <a:rPr lang="es-PA" sz="3600" b="1"/>
              <a:t> </a:t>
            </a:r>
            <a:r>
              <a:rPr lang="es-PA" sz="3600" b="1" err="1"/>
              <a:t>function</a:t>
            </a:r>
            <a:r>
              <a:rPr lang="es-PA" sz="3600" b="1"/>
              <a:t> saludar() {</a:t>
            </a:r>
          </a:p>
          <a:p>
            <a:r>
              <a:rPr lang="es-PA" sz="3600" b="1"/>
              <a:t>        echo "Hola, soy $</a:t>
            </a:r>
            <a:r>
              <a:rPr lang="es-PA" sz="3600" b="1" err="1"/>
              <a:t>this</a:t>
            </a:r>
            <a:r>
              <a:rPr lang="es-PA" sz="3600" b="1"/>
              <a:t>-&gt;nombre";</a:t>
            </a:r>
          </a:p>
          <a:p>
            <a:r>
              <a:rPr lang="es-PA" sz="3600" b="1"/>
              <a:t>    }</a:t>
            </a:r>
          </a:p>
          <a:p>
            <a:r>
              <a:rPr lang="es-PA" sz="3600" b="1"/>
              <a:t>}</a:t>
            </a:r>
          </a:p>
          <a:p>
            <a:r>
              <a:rPr lang="es-PA" sz="3600" b="1" err="1"/>
              <a:t>class</a:t>
            </a:r>
            <a:r>
              <a:rPr lang="es-PA" sz="3600" b="1"/>
              <a:t> Estudiante </a:t>
            </a:r>
            <a:r>
              <a:rPr lang="es-PA" sz="3600" b="1" err="1"/>
              <a:t>extends</a:t>
            </a:r>
            <a:r>
              <a:rPr lang="es-PA" sz="3600" b="1"/>
              <a:t> Persona {</a:t>
            </a:r>
          </a:p>
          <a:p>
            <a:r>
              <a:rPr lang="es-PA" sz="3600" b="1"/>
              <a:t>    </a:t>
            </a:r>
            <a:r>
              <a:rPr lang="es-PA" sz="3600" b="1" err="1"/>
              <a:t>private</a:t>
            </a:r>
            <a:r>
              <a:rPr lang="es-PA" sz="3600" b="1"/>
              <a:t> $carrera;</a:t>
            </a:r>
          </a:p>
          <a:p>
            <a:r>
              <a:rPr lang="es-PA" sz="3600" b="1"/>
              <a:t>    </a:t>
            </a:r>
            <a:r>
              <a:rPr lang="es-PA" sz="3600" b="1" err="1"/>
              <a:t>public</a:t>
            </a:r>
            <a:r>
              <a:rPr lang="es-PA" sz="3600" b="1"/>
              <a:t> </a:t>
            </a:r>
            <a:r>
              <a:rPr lang="es-PA" sz="3600" b="1" err="1"/>
              <a:t>function</a:t>
            </a:r>
            <a:r>
              <a:rPr lang="es-PA" sz="3600" b="1"/>
              <a:t> __</a:t>
            </a:r>
            <a:r>
              <a:rPr lang="es-PA" sz="3600" b="1" err="1"/>
              <a:t>construct</a:t>
            </a:r>
            <a:r>
              <a:rPr lang="es-PA" sz="3600" b="1"/>
              <a:t>($nombre, $carrera) {</a:t>
            </a:r>
          </a:p>
          <a:p>
            <a:r>
              <a:rPr lang="es-PA" sz="3600" b="1"/>
              <a:t>        </a:t>
            </a:r>
            <a:r>
              <a:rPr lang="es-PA" sz="3600" b="1" err="1"/>
              <a:t>parent</a:t>
            </a:r>
            <a:r>
              <a:rPr lang="es-PA" sz="3600" b="1"/>
              <a:t>::__</a:t>
            </a:r>
            <a:r>
              <a:rPr lang="es-PA" sz="3600" b="1" err="1"/>
              <a:t>construct</a:t>
            </a:r>
            <a:r>
              <a:rPr lang="es-PA" sz="3600" b="1"/>
              <a:t>($nombre);</a:t>
            </a:r>
          </a:p>
          <a:p>
            <a:r>
              <a:rPr lang="es-PA" sz="3600" b="1"/>
              <a:t>        $</a:t>
            </a:r>
            <a:r>
              <a:rPr lang="es-PA" sz="3600" b="1" err="1"/>
              <a:t>this</a:t>
            </a:r>
            <a:r>
              <a:rPr lang="es-PA" sz="3600" b="1"/>
              <a:t>-&gt;carrera = $carrera;</a:t>
            </a:r>
          </a:p>
          <a:p>
            <a:r>
              <a:rPr lang="es-PA" sz="3600" b="1"/>
              <a:t>    }</a:t>
            </a:r>
          </a:p>
          <a:p>
            <a:r>
              <a:rPr lang="es-PA" sz="3600" b="1"/>
              <a:t>    </a:t>
            </a:r>
            <a:r>
              <a:rPr lang="es-PA" sz="3600" b="1" err="1"/>
              <a:t>public</a:t>
            </a:r>
            <a:r>
              <a:rPr lang="es-PA" sz="3600" b="1"/>
              <a:t> </a:t>
            </a:r>
            <a:r>
              <a:rPr lang="es-PA" sz="3600" b="1" err="1"/>
              <a:t>function</a:t>
            </a:r>
            <a:r>
              <a:rPr lang="es-PA" sz="3600" b="1"/>
              <a:t> </a:t>
            </a:r>
            <a:r>
              <a:rPr lang="es-PA" sz="3600" b="1" err="1"/>
              <a:t>mostrarCarrera</a:t>
            </a:r>
            <a:r>
              <a:rPr lang="es-PA" sz="3600" b="1"/>
              <a:t>() {</a:t>
            </a:r>
          </a:p>
          <a:p>
            <a:r>
              <a:rPr lang="es-PA" sz="3600" b="1"/>
              <a:t>        echo "Estudio $</a:t>
            </a:r>
            <a:r>
              <a:rPr lang="es-PA" sz="3600" b="1" err="1"/>
              <a:t>this</a:t>
            </a:r>
            <a:r>
              <a:rPr lang="es-PA" sz="3600" b="1"/>
              <a:t>-&gt;carrera";</a:t>
            </a:r>
          </a:p>
          <a:p>
            <a:r>
              <a:rPr lang="es-PA" sz="3600" b="1"/>
              <a:t>    }</a:t>
            </a:r>
          </a:p>
          <a:p>
            <a:r>
              <a:rPr lang="es-PA" sz="3600" b="1"/>
              <a:t>}</a:t>
            </a:r>
          </a:p>
          <a:p>
            <a:endParaRPr lang="es-PA" sz="3600" b="1"/>
          </a:p>
          <a:p>
            <a:r>
              <a:rPr lang="es-PA" sz="3600" b="1"/>
              <a:t>$</a:t>
            </a:r>
            <a:r>
              <a:rPr lang="es-PA" sz="3600" b="1" err="1"/>
              <a:t>est</a:t>
            </a:r>
            <a:r>
              <a:rPr lang="es-PA" sz="3600" b="1"/>
              <a:t> = new Estudiante("Carlos", "Ingeniería");</a:t>
            </a:r>
          </a:p>
          <a:p>
            <a:r>
              <a:rPr lang="es-PA" sz="3600" b="1"/>
              <a:t>$</a:t>
            </a:r>
            <a:r>
              <a:rPr lang="es-PA" sz="3600" b="1" err="1"/>
              <a:t>est</a:t>
            </a:r>
            <a:r>
              <a:rPr lang="es-PA" sz="3600" b="1"/>
              <a:t>-&gt;saludar();</a:t>
            </a:r>
          </a:p>
          <a:p>
            <a:r>
              <a:rPr lang="es-PA" sz="3600" b="1"/>
              <a:t>$</a:t>
            </a:r>
            <a:r>
              <a:rPr lang="es-PA" sz="3600" b="1" err="1"/>
              <a:t>est</a:t>
            </a:r>
            <a:r>
              <a:rPr lang="es-PA" sz="3600" b="1"/>
              <a:t>-&gt;</a:t>
            </a:r>
            <a:r>
              <a:rPr lang="es-PA" sz="3600" b="1" err="1"/>
              <a:t>mostrarCarrera</a:t>
            </a:r>
            <a:r>
              <a:rPr lang="es-PA" sz="3600" b="1"/>
              <a:t>();</a:t>
            </a:r>
          </a:p>
          <a:p>
            <a:r>
              <a:rPr lang="es-PA" sz="3600" b="1"/>
              <a:t>?&gt;</a:t>
            </a:r>
          </a:p>
          <a:p>
            <a:endParaRPr lang="es-PA"/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89" y="1793741"/>
            <a:ext cx="5594765" cy="3094453"/>
          </a:xfrm>
        </p:spPr>
      </p:pic>
    </p:spTree>
    <p:extLst>
      <p:ext uri="{BB962C8B-B14F-4D97-AF65-F5344CB8AC3E}">
        <p14:creationId xmlns:p14="http://schemas.microsoft.com/office/powerpoint/2010/main" val="2334647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4042" y="430124"/>
            <a:ext cx="10026650" cy="655637"/>
          </a:xfrm>
        </p:spPr>
        <p:txBody>
          <a:bodyPr/>
          <a:lstStyle/>
          <a:p>
            <a:r>
              <a:rPr lang="es-PA"/>
              <a:t>Funciones </a:t>
            </a:r>
            <a:r>
              <a:rPr lang="es-PA" err="1"/>
              <a:t>require</a:t>
            </a:r>
            <a:r>
              <a:rPr lang="es-PA"/>
              <a:t>() e </a:t>
            </a:r>
            <a:r>
              <a:rPr lang="es-PA" err="1"/>
              <a:t>include</a:t>
            </a:r>
            <a:r>
              <a:rPr lang="es-PA"/>
              <a:t>()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94042" y="1473938"/>
            <a:ext cx="4741200" cy="553998"/>
          </a:xfrm>
        </p:spPr>
        <p:txBody>
          <a:bodyPr>
            <a:normAutofit fontScale="92500" lnSpcReduction="20000"/>
          </a:bodyPr>
          <a:lstStyle/>
          <a:p>
            <a:r>
              <a:rPr lang="es-ES" err="1"/>
              <a:t>Require</a:t>
            </a:r>
            <a:r>
              <a:rPr lang="es-ES"/>
              <a:t>()</a:t>
            </a:r>
          </a:p>
          <a:p>
            <a:r>
              <a:rPr lang="es-ES"/>
              <a:t>Es obligatorio.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994042" y="2196269"/>
            <a:ext cx="5047835" cy="4307079"/>
          </a:xfrm>
        </p:spPr>
        <p:txBody>
          <a:bodyPr>
            <a:normAutofit fontScale="62500" lnSpcReduction="20000"/>
          </a:bodyPr>
          <a:lstStyle/>
          <a:p>
            <a:r>
              <a:rPr lang="es-PA"/>
              <a:t>&lt;?</a:t>
            </a:r>
            <a:r>
              <a:rPr lang="es-PA" err="1"/>
              <a:t>php</a:t>
            </a:r>
            <a:endParaRPr lang="es-PA"/>
          </a:p>
          <a:p>
            <a:r>
              <a:rPr lang="es-PA"/>
              <a:t>// archivo: </a:t>
            </a:r>
            <a:r>
              <a:rPr lang="es-PA" err="1"/>
              <a:t>Persona.php</a:t>
            </a:r>
            <a:endParaRPr lang="es-PA"/>
          </a:p>
          <a:p>
            <a:r>
              <a:rPr lang="es-PA" err="1"/>
              <a:t>class</a:t>
            </a:r>
            <a:r>
              <a:rPr lang="es-PA"/>
              <a:t> Persona {</a:t>
            </a:r>
          </a:p>
          <a:p>
            <a:r>
              <a:rPr lang="es-PA"/>
              <a:t>    // ...</a:t>
            </a:r>
          </a:p>
          <a:p>
            <a:r>
              <a:rPr lang="es-PA"/>
              <a:t>}</a:t>
            </a:r>
          </a:p>
          <a:p>
            <a:r>
              <a:rPr lang="es-PA"/>
              <a:t>?&gt;</a:t>
            </a:r>
          </a:p>
          <a:p>
            <a:endParaRPr lang="es-PA"/>
          </a:p>
          <a:p>
            <a:r>
              <a:rPr lang="es-PA"/>
              <a:t>&lt;?</a:t>
            </a:r>
            <a:r>
              <a:rPr lang="es-PA" err="1"/>
              <a:t>php</a:t>
            </a:r>
            <a:endParaRPr lang="es-PA"/>
          </a:p>
          <a:p>
            <a:r>
              <a:rPr lang="es-PA"/>
              <a:t>// archivo: </a:t>
            </a:r>
            <a:r>
              <a:rPr lang="es-PA" err="1"/>
              <a:t>index.php</a:t>
            </a:r>
            <a:endParaRPr lang="es-PA"/>
          </a:p>
          <a:p>
            <a:r>
              <a:rPr lang="es-PA" err="1"/>
              <a:t>require</a:t>
            </a:r>
            <a:r>
              <a:rPr lang="es-PA"/>
              <a:t>("</a:t>
            </a:r>
            <a:r>
              <a:rPr lang="es-PA" err="1"/>
              <a:t>Persona.php</a:t>
            </a:r>
            <a:r>
              <a:rPr lang="es-PA"/>
              <a:t>");  // o </a:t>
            </a:r>
            <a:r>
              <a:rPr lang="es-PA" err="1"/>
              <a:t>include</a:t>
            </a:r>
            <a:r>
              <a:rPr lang="es-PA"/>
              <a:t>("</a:t>
            </a:r>
            <a:r>
              <a:rPr lang="es-PA" err="1"/>
              <a:t>Persona.php</a:t>
            </a:r>
            <a:r>
              <a:rPr lang="es-PA"/>
              <a:t>");</a:t>
            </a:r>
          </a:p>
          <a:p>
            <a:endParaRPr lang="es-PA"/>
          </a:p>
          <a:p>
            <a:r>
              <a:rPr lang="es-PA"/>
              <a:t>$persona = new Persona("Luis", 40);</a:t>
            </a:r>
          </a:p>
          <a:p>
            <a:r>
              <a:rPr lang="es-PA"/>
              <a:t>?&gt;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578595" y="1473938"/>
            <a:ext cx="4741200" cy="553998"/>
          </a:xfrm>
        </p:spPr>
        <p:txBody>
          <a:bodyPr>
            <a:normAutofit fontScale="92500" lnSpcReduction="20000"/>
          </a:bodyPr>
          <a:lstStyle/>
          <a:p>
            <a:r>
              <a:rPr lang="es-ES" err="1"/>
              <a:t>Include</a:t>
            </a:r>
            <a:r>
              <a:rPr lang="es-ES"/>
              <a:t>()</a:t>
            </a:r>
          </a:p>
          <a:p>
            <a:r>
              <a:rPr lang="es-ES"/>
              <a:t>Es opcional.</a:t>
            </a:r>
            <a:endParaRPr lang="es-PA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242" y="2416113"/>
            <a:ext cx="6133477" cy="382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45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22946" y="358923"/>
            <a:ext cx="5999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/>
              <a:t>Seguridad en los ficheros de biblioteca</a:t>
            </a:r>
            <a:endParaRPr lang="es-PA" sz="2000" b="1"/>
          </a:p>
        </p:txBody>
      </p:sp>
      <p:sp>
        <p:nvSpPr>
          <p:cNvPr id="7" name="CuadroTexto 6"/>
          <p:cNvSpPr txBox="1"/>
          <p:nvPr/>
        </p:nvSpPr>
        <p:spPr>
          <a:xfrm>
            <a:off x="5332576" y="1016949"/>
            <a:ext cx="6716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/>
              <a:t>Cuando usemos </a:t>
            </a:r>
            <a:r>
              <a:rPr lang="es-ES" err="1"/>
              <a:t>require</a:t>
            </a:r>
            <a:r>
              <a:rPr lang="es-ES"/>
              <a:t>() o </a:t>
            </a:r>
            <a:r>
              <a:rPr lang="es-ES" err="1"/>
              <a:t>include</a:t>
            </a:r>
            <a:r>
              <a:rPr lang="es-ES"/>
              <a:t>() para importar archivos con clases, funciones o configuraciones, es importante asegurarse de que esos archivos estén protegidos. Si no se hace bien, pueden quedar expuestos a usuarios externos, lo que representa un riesgo de seguridad.</a:t>
            </a:r>
            <a:endParaRPr lang="es-PA"/>
          </a:p>
        </p:txBody>
      </p:sp>
      <p:sp>
        <p:nvSpPr>
          <p:cNvPr id="9" name="CuadroTexto 8"/>
          <p:cNvSpPr txBox="1"/>
          <p:nvPr/>
        </p:nvSpPr>
        <p:spPr>
          <a:xfrm>
            <a:off x="5332576" y="2782971"/>
            <a:ext cx="5836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/>
              <a:t>Use </a:t>
            </a:r>
            <a:r>
              <a:rPr lang="es-ES" b="1" i="1" err="1"/>
              <a:t>require_once</a:t>
            </a:r>
            <a:r>
              <a:rPr lang="es-ES"/>
              <a:t> o </a:t>
            </a:r>
            <a:r>
              <a:rPr lang="es-ES" b="1" i="1" err="1"/>
              <a:t>include_once</a:t>
            </a:r>
            <a:r>
              <a:rPr lang="es-ES"/>
              <a:t> para evitar duplicados. Esto asegura que los archivos se carguen solo una vez, evitando errores como "</a:t>
            </a:r>
            <a:r>
              <a:rPr lang="es-ES" err="1"/>
              <a:t>class</a:t>
            </a:r>
            <a:r>
              <a:rPr lang="es-ES"/>
              <a:t> </a:t>
            </a:r>
            <a:r>
              <a:rPr lang="es-ES" err="1"/>
              <a:t>already</a:t>
            </a:r>
            <a:r>
              <a:rPr lang="es-ES"/>
              <a:t> </a:t>
            </a:r>
            <a:r>
              <a:rPr lang="es-ES" err="1"/>
              <a:t>declared</a:t>
            </a:r>
            <a:r>
              <a:rPr lang="es-ES"/>
              <a:t>".</a:t>
            </a:r>
            <a:endParaRPr lang="es-PA"/>
          </a:p>
        </p:txBody>
      </p:sp>
      <p:sp>
        <p:nvSpPr>
          <p:cNvPr id="11" name="CuadroTexto 10"/>
          <p:cNvSpPr txBox="1"/>
          <p:nvPr/>
        </p:nvSpPr>
        <p:spPr>
          <a:xfrm>
            <a:off x="5332576" y="4374995"/>
            <a:ext cx="546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Evite mostrar errores en producción.</a:t>
            </a:r>
            <a:endParaRPr lang="es-PA"/>
          </a:p>
        </p:txBody>
      </p:sp>
      <p:sp>
        <p:nvSpPr>
          <p:cNvPr id="12" name="CuadroTexto 11"/>
          <p:cNvSpPr txBox="1"/>
          <p:nvPr/>
        </p:nvSpPr>
        <p:spPr>
          <a:xfrm>
            <a:off x="5332576" y="5136022"/>
            <a:ext cx="6469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/>
              <a:t>Use nombres de archivo que no revelen demasiado. Evite nombres como </a:t>
            </a:r>
            <a:r>
              <a:rPr lang="es-PA" i="1" err="1"/>
              <a:t>conexion_bd.php</a:t>
            </a:r>
            <a:r>
              <a:rPr lang="es-PA"/>
              <a:t>, </a:t>
            </a:r>
            <a:r>
              <a:rPr lang="es-PA" i="1" err="1"/>
              <a:t>credenciales.php</a:t>
            </a:r>
            <a:r>
              <a:rPr lang="es-PA"/>
              <a:t>, </a:t>
            </a:r>
            <a:r>
              <a:rPr lang="es-PA" i="1" err="1"/>
              <a:t>passwords.php</a:t>
            </a:r>
            <a:r>
              <a:rPr lang="es-PA" err="1"/>
              <a:t>.Prefiere</a:t>
            </a:r>
            <a:r>
              <a:rPr lang="es-PA"/>
              <a:t> algo más genérico como </a:t>
            </a:r>
            <a:r>
              <a:rPr lang="es-PA" i="1" err="1"/>
              <a:t>config.php</a:t>
            </a:r>
            <a:r>
              <a:rPr lang="es-PA"/>
              <a:t>, </a:t>
            </a:r>
            <a:r>
              <a:rPr lang="es-PA" i="1" err="1"/>
              <a:t>setup.php</a:t>
            </a:r>
            <a:r>
              <a:rPr lang="es-PA"/>
              <a:t>, etc.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85" y="1755613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60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E30C-1333-5529-886B-FD732D3DC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0326" y="5177014"/>
            <a:ext cx="4451349" cy="568665"/>
          </a:xfrm>
        </p:spPr>
        <p:txBody>
          <a:bodyPr/>
          <a:lstStyle/>
          <a:p>
            <a:r>
              <a:rPr lang="en-US">
                <a:solidFill>
                  <a:srgbClr val="FFFFFF">
                    <a:alpha val="70000"/>
                  </a:srgbClr>
                </a:solidFill>
              </a:rPr>
              <a:t>MAG. TOMÁS CALDERÓN</a:t>
            </a:r>
          </a:p>
        </p:txBody>
      </p:sp>
      <p:pic>
        <p:nvPicPr>
          <p:cNvPr id="4" name="Picture 3" descr="A frog in a suit&#10;&#10;Description automatically generated">
            <a:extLst>
              <a:ext uri="{FF2B5EF4-FFF2-40B4-BE49-F238E27FC236}">
                <a16:creationId xmlns:a16="http://schemas.microsoft.com/office/drawing/2014/main" id="{D8D9A6E9-E447-6564-A440-0B5CD81D7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99" y="1322996"/>
            <a:ext cx="5715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33059B-AF8D-467E-BDB3-CD063FDD209D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A0E967E-393C-4B37-B871-7AD1DE83AEB1}"/>
</file>

<file path=customXml/itemProps3.xml><?xml version="1.0" encoding="utf-8"?>
<ds:datastoreItem xmlns:ds="http://schemas.openxmlformats.org/officeDocument/2006/customXml" ds:itemID="{D3A5F18C-93E4-4C3A-A312-44EF0CB57AC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LeafVTI</Template>
  <Application>Microsoft Office PowerPoint</Application>
  <PresentationFormat>Widescreen</PresentationFormat>
  <Slides>24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LeafVTI</vt:lpstr>
      <vt:lpstr>Funciones de PHP y poo</vt:lpstr>
      <vt:lpstr>COnstantes</vt:lpstr>
      <vt:lpstr>constantes</vt:lpstr>
      <vt:lpstr>constantes</vt:lpstr>
      <vt:lpstr>variables</vt:lpstr>
      <vt:lpstr>variables</vt:lpstr>
      <vt:lpstr>variables</vt:lpstr>
      <vt:lpstr>variables</vt:lpstr>
      <vt:lpstr>variables</vt:lpstr>
      <vt:lpstr>strings</vt:lpstr>
      <vt:lpstr>strings</vt:lpstr>
      <vt:lpstr>strings</vt:lpstr>
      <vt:lpstr>strings</vt:lpstr>
      <vt:lpstr>strings</vt:lpstr>
      <vt:lpstr>strings</vt:lpstr>
      <vt:lpstr>matemáticas</vt:lpstr>
      <vt:lpstr>POO</vt:lpstr>
      <vt:lpstr>PowerPoint Presentation</vt:lpstr>
      <vt:lpstr>PowerPoint Presentation</vt:lpstr>
      <vt:lpstr>Constructores</vt:lpstr>
      <vt:lpstr>Herencia</vt:lpstr>
      <vt:lpstr>Funciones require() e include()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revision>1</cp:revision>
  <dcterms:created xsi:type="dcterms:W3CDTF">2024-08-14T17:38:13Z</dcterms:created>
  <dcterms:modified xsi:type="dcterms:W3CDTF">2026-04-08T01:01:49Z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</Properties>
</file>