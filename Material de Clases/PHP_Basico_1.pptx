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60" r:id="rId8"/>
    <p:sldId id="259" r:id="rId9"/>
    <p:sldId id="261" r:id="rId10"/>
    <p:sldId id="262" r:id="rId11"/>
    <p:sldId id="263" r:id="rId12"/>
    <p:sldId id="274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DAC661-6B0E-98B8-A515-39AD01C00516}" v="2" dt="2026-04-08T17:38:17.0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EL GONZALEZ" userId="S::anel.gonzalez4@utp.ac.pa::c5b67b5b-11d7-4ddd-80e6-9575ea6cae16" providerId="AD" clId="Web-{727948D5-F61C-0552-CA74-1A4A4155BA73}"/>
    <pc:docChg chg="modSld">
      <pc:chgData name="ANEL GONZALEZ" userId="S::anel.gonzalez4@utp.ac.pa::c5b67b5b-11d7-4ddd-80e6-9575ea6cae16" providerId="AD" clId="Web-{727948D5-F61C-0552-CA74-1A4A4155BA73}" dt="2026-04-01T00:20:59.403" v="4" actId="1076"/>
      <pc:docMkLst>
        <pc:docMk/>
      </pc:docMkLst>
      <pc:sldChg chg="modSp">
        <pc:chgData name="ANEL GONZALEZ" userId="S::anel.gonzalez4@utp.ac.pa::c5b67b5b-11d7-4ddd-80e6-9575ea6cae16" providerId="AD" clId="Web-{727948D5-F61C-0552-CA74-1A4A4155BA73}" dt="2026-04-01T00:20:59.403" v="4" actId="1076"/>
        <pc:sldMkLst>
          <pc:docMk/>
          <pc:sldMk cId="0" sldId="272"/>
        </pc:sldMkLst>
        <pc:spChg chg="mod">
          <ac:chgData name="ANEL GONZALEZ" userId="S::anel.gonzalez4@utp.ac.pa::c5b67b5b-11d7-4ddd-80e6-9575ea6cae16" providerId="AD" clId="Web-{727948D5-F61C-0552-CA74-1A4A4155BA73}" dt="2026-04-01T00:17:46.587" v="2" actId="20577"/>
          <ac:spMkLst>
            <pc:docMk/>
            <pc:sldMk cId="0" sldId="272"/>
            <ac:spMk id="10" creationId="{00000000-0000-0000-0000-000000000000}"/>
          </ac:spMkLst>
        </pc:spChg>
        <pc:spChg chg="mod">
          <ac:chgData name="ANEL GONZALEZ" userId="S::anel.gonzalez4@utp.ac.pa::c5b67b5b-11d7-4ddd-80e6-9575ea6cae16" providerId="AD" clId="Web-{727948D5-F61C-0552-CA74-1A4A4155BA73}" dt="2026-04-01T00:20:59.403" v="4" actId="1076"/>
          <ac:spMkLst>
            <pc:docMk/>
            <pc:sldMk cId="0" sldId="272"/>
            <ac:spMk id="18" creationId="{00000000-0000-0000-0000-000000000000}"/>
          </ac:spMkLst>
        </pc:spChg>
      </pc:sldChg>
    </pc:docChg>
  </pc:docChgLst>
  <pc:docChgLst>
    <pc:chgData name="MIGUEL CABALLERO" userId="S::miguel.caballero3@utp.ac.pa::df60ba56-f800-4225-800b-c1345924ef43" providerId="AD" clId="Web-{88182B37-8A29-4346-A324-A88CBDDD1EF2}"/>
    <pc:docChg chg="modSld">
      <pc:chgData name="MIGUEL CABALLERO" userId="S::miguel.caballero3@utp.ac.pa::df60ba56-f800-4225-800b-c1345924ef43" providerId="AD" clId="Web-{88182B37-8A29-4346-A324-A88CBDDD1EF2}" dt="2026-04-02T01:37:46.414" v="0" actId="1076"/>
      <pc:docMkLst>
        <pc:docMk/>
      </pc:docMkLst>
      <pc:sldChg chg="modSp">
        <pc:chgData name="MIGUEL CABALLERO" userId="S::miguel.caballero3@utp.ac.pa::df60ba56-f800-4225-800b-c1345924ef43" providerId="AD" clId="Web-{88182B37-8A29-4346-A324-A88CBDDD1EF2}" dt="2026-04-02T01:37:46.414" v="0" actId="1076"/>
        <pc:sldMkLst>
          <pc:docMk/>
          <pc:sldMk cId="0" sldId="274"/>
        </pc:sldMkLst>
        <pc:spChg chg="mod">
          <ac:chgData name="MIGUEL CABALLERO" userId="S::miguel.caballero3@utp.ac.pa::df60ba56-f800-4225-800b-c1345924ef43" providerId="AD" clId="Web-{88182B37-8A29-4346-A324-A88CBDDD1EF2}" dt="2026-04-02T01:37:46.414" v="0" actId="1076"/>
          <ac:spMkLst>
            <pc:docMk/>
            <pc:sldMk cId="0" sldId="274"/>
            <ac:spMk id="19" creationId="{00000000-0000-0000-0000-000000000000}"/>
          </ac:spMkLst>
        </pc:spChg>
      </pc:sldChg>
    </pc:docChg>
  </pc:docChgLst>
  <pc:docChgLst>
    <pc:chgData name="ANEL GONZALEZ" userId="S::anel.gonzalez4@utp.ac.pa::c5b67b5b-11d7-4ddd-80e6-9575ea6cae16" providerId="AD" clId="Web-{50BD40BE-2F46-EFC5-7F87-37AE0133C8DF}"/>
    <pc:docChg chg="modSld">
      <pc:chgData name="ANEL GONZALEZ" userId="S::anel.gonzalez4@utp.ac.pa::c5b67b5b-11d7-4ddd-80e6-9575ea6cae16" providerId="AD" clId="Web-{50BD40BE-2F46-EFC5-7F87-37AE0133C8DF}" dt="2026-03-31T23:54:46.490" v="0" actId="1076"/>
      <pc:docMkLst>
        <pc:docMk/>
      </pc:docMkLst>
      <pc:sldChg chg="modSp">
        <pc:chgData name="ANEL GONZALEZ" userId="S::anel.gonzalez4@utp.ac.pa::c5b67b5b-11d7-4ddd-80e6-9575ea6cae16" providerId="AD" clId="Web-{50BD40BE-2F46-EFC5-7F87-37AE0133C8DF}" dt="2026-03-31T23:54:46.490" v="0" actId="1076"/>
        <pc:sldMkLst>
          <pc:docMk/>
          <pc:sldMk cId="0" sldId="262"/>
        </pc:sldMkLst>
        <pc:spChg chg="mod">
          <ac:chgData name="ANEL GONZALEZ" userId="S::anel.gonzalez4@utp.ac.pa::c5b67b5b-11d7-4ddd-80e6-9575ea6cae16" providerId="AD" clId="Web-{50BD40BE-2F46-EFC5-7F87-37AE0133C8DF}" dt="2026-03-31T23:54:46.490" v="0" actId="1076"/>
          <ac:spMkLst>
            <pc:docMk/>
            <pc:sldMk cId="0" sldId="262"/>
            <ac:spMk id="18" creationId="{00000000-0000-0000-0000-000000000000}"/>
          </ac:spMkLst>
        </pc:spChg>
      </pc:sldChg>
    </pc:docChg>
  </pc:docChgLst>
  <pc:docChgLst>
    <pc:chgData name="HUMBERTO OSSA" userId="S::humberto.ossa@utp.ac.pa::f8da3383-642d-456d-a25d-fe911aa60387" providerId="AD" clId="Web-{3CDAC661-6B0E-98B8-A515-39AD01C00516}"/>
    <pc:docChg chg="modSld">
      <pc:chgData name="HUMBERTO OSSA" userId="S::humberto.ossa@utp.ac.pa::f8da3383-642d-456d-a25d-fe911aa60387" providerId="AD" clId="Web-{3CDAC661-6B0E-98B8-A515-39AD01C00516}" dt="2026-04-08T17:38:17.027" v="1" actId="1076"/>
      <pc:docMkLst>
        <pc:docMk/>
      </pc:docMkLst>
      <pc:sldChg chg="modSp">
        <pc:chgData name="HUMBERTO OSSA" userId="S::humberto.ossa@utp.ac.pa::f8da3383-642d-456d-a25d-fe911aa60387" providerId="AD" clId="Web-{3CDAC661-6B0E-98B8-A515-39AD01C00516}" dt="2026-04-08T17:32:14.807" v="0" actId="1076"/>
        <pc:sldMkLst>
          <pc:docMk/>
          <pc:sldMk cId="0" sldId="263"/>
        </pc:sldMkLst>
        <pc:spChg chg="mod">
          <ac:chgData name="HUMBERTO OSSA" userId="S::humberto.ossa@utp.ac.pa::f8da3383-642d-456d-a25d-fe911aa60387" providerId="AD" clId="Web-{3CDAC661-6B0E-98B8-A515-39AD01C00516}" dt="2026-04-08T17:32:14.807" v="0" actId="1076"/>
          <ac:spMkLst>
            <pc:docMk/>
            <pc:sldMk cId="0" sldId="263"/>
            <ac:spMk id="26" creationId="{00000000-0000-0000-0000-000000000000}"/>
          </ac:spMkLst>
        </pc:spChg>
      </pc:sldChg>
      <pc:sldChg chg="modSp">
        <pc:chgData name="HUMBERTO OSSA" userId="S::humberto.ossa@utp.ac.pa::f8da3383-642d-456d-a25d-fe911aa60387" providerId="AD" clId="Web-{3CDAC661-6B0E-98B8-A515-39AD01C00516}" dt="2026-04-08T17:38:17.027" v="1" actId="1076"/>
        <pc:sldMkLst>
          <pc:docMk/>
          <pc:sldMk cId="0" sldId="265"/>
        </pc:sldMkLst>
        <pc:spChg chg="mod">
          <ac:chgData name="HUMBERTO OSSA" userId="S::humberto.ossa@utp.ac.pa::f8da3383-642d-456d-a25d-fe911aa60387" providerId="AD" clId="Web-{3CDAC661-6B0E-98B8-A515-39AD01C00516}" dt="2026-04-08T17:38:17.027" v="1" actId="1076"/>
          <ac:spMkLst>
            <pc:docMk/>
            <pc:sldMk cId="0" sldId="265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533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"/>
            <a:ext cx="1097280" cy="109728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914400"/>
            <a:ext cx="731520" cy="731520"/>
          </a:xfrm>
          <a:prstGeom prst="rect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474720"/>
            <a:ext cx="1645920" cy="137160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6400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0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777240" y="1280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err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Desarollo</a:t>
            </a:r>
            <a:r>
              <a:rPr lang="en-US" sz="160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Software VII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PHP</a:t>
            </a:r>
            <a:endParaRPr lang="en-US" sz="540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r>
              <a:rPr lang="en-US" sz="17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Básicos</a:t>
            </a:r>
            <a:endParaRPr lang="en-US" sz="170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32004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Mag. Tomás Calderón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777240" y="3840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 </a:t>
            </a:r>
            <a:r>
              <a:rPr lang="en-US" sz="120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Tecnológica</a:t>
            </a: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Panamá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772400" y="4480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Contenido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8404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e Historia de PHP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84048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371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PHP?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365760" y="1645920"/>
            <a:ext cx="384048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459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822960" y="1645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Evolución: PHP 1 → PHP 8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38404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92024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822960" y="1920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de Desarrollo (XAMPP)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384048" cy="2194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945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822960" y="2194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de Datos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365760" y="2468880"/>
            <a:ext cx="38404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4688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822960" y="24688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Escalares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365760" y="2743200"/>
            <a:ext cx="384048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7432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822960" y="2743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Compuestos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4846320" y="1097280"/>
            <a:ext cx="384048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0972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5303520" y="10972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de Tipos</a:t>
            </a:r>
            <a:endParaRPr lang="en-US" sz="1200"/>
          </a:p>
        </p:txBody>
      </p:sp>
      <p:sp>
        <p:nvSpPr>
          <p:cNvPr id="29" name="Shape 27"/>
          <p:cNvSpPr/>
          <p:nvPr/>
        </p:nvSpPr>
        <p:spPr>
          <a:xfrm>
            <a:off x="4846320" y="1371600"/>
            <a:ext cx="38404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3716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5303520" y="13716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</a:t>
            </a:r>
            <a:endParaRPr lang="en-US" sz="1200"/>
          </a:p>
        </p:txBody>
      </p:sp>
      <p:sp>
        <p:nvSpPr>
          <p:cNvPr id="32" name="Shape 30"/>
          <p:cNvSpPr/>
          <p:nvPr/>
        </p:nvSpPr>
        <p:spPr>
          <a:xfrm>
            <a:off x="4846320" y="1645920"/>
            <a:ext cx="384048" cy="21945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64592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5303520" y="16459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Aritméticos</a:t>
            </a:r>
            <a:endParaRPr lang="en-US" sz="1200"/>
          </a:p>
        </p:txBody>
      </p:sp>
      <p:sp>
        <p:nvSpPr>
          <p:cNvPr id="35" name="Shape 33"/>
          <p:cNvSpPr/>
          <p:nvPr/>
        </p:nvSpPr>
        <p:spPr>
          <a:xfrm>
            <a:off x="4846320" y="1920240"/>
            <a:ext cx="384048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192024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5303520" y="19202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Asignación</a:t>
            </a:r>
            <a:endParaRPr lang="en-US" sz="1200"/>
          </a:p>
        </p:txBody>
      </p:sp>
      <p:sp>
        <p:nvSpPr>
          <p:cNvPr id="38" name="Shape 36"/>
          <p:cNvSpPr/>
          <p:nvPr/>
        </p:nvSpPr>
        <p:spPr>
          <a:xfrm>
            <a:off x="4846320" y="2194560"/>
            <a:ext cx="384048" cy="21945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19456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5303520" y="2194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de Comparación</a:t>
            </a:r>
            <a:endParaRPr lang="en-US" sz="1200"/>
          </a:p>
        </p:txBody>
      </p:sp>
      <p:sp>
        <p:nvSpPr>
          <p:cNvPr id="41" name="Shape 39"/>
          <p:cNvSpPr/>
          <p:nvPr/>
        </p:nvSpPr>
        <p:spPr>
          <a:xfrm>
            <a:off x="4846320" y="2468880"/>
            <a:ext cx="384048" cy="21945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24688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5303520" y="24688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 Lógicos</a:t>
            </a:r>
            <a:endParaRPr lang="en-US" sz="1200"/>
          </a:p>
        </p:txBody>
      </p:sp>
      <p:sp>
        <p:nvSpPr>
          <p:cNvPr id="44" name="Shape 42"/>
          <p:cNvSpPr/>
          <p:nvPr/>
        </p:nvSpPr>
        <p:spPr>
          <a:xfrm>
            <a:off x="4846320" y="2743200"/>
            <a:ext cx="38404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274320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/>
          </a:p>
        </p:txBody>
      </p:sp>
      <p:sp>
        <p:nvSpPr>
          <p:cNvPr id="46" name="Text 44"/>
          <p:cNvSpPr/>
          <p:nvPr/>
        </p:nvSpPr>
        <p:spPr>
          <a:xfrm>
            <a:off x="5303520" y="27432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Origen de PHP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3840480" cy="347472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155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Rasmus Lerdorf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40080" y="171907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Nacido: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874520" y="17190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de noviembre, 1968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640080" y="219456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Lugar: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1874520" y="21945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Qeqertarsuaq, Groenlandia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640080" y="26700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PHP:</a:t>
            </a:r>
            <a:endParaRPr lang="en-US" sz="1300"/>
          </a:p>
        </p:txBody>
      </p:sp>
      <p:sp>
        <p:nvSpPr>
          <p:cNvPr id="13" name="Text 11"/>
          <p:cNvSpPr/>
          <p:nvPr/>
        </p:nvSpPr>
        <p:spPr>
          <a:xfrm>
            <a:off x="1874520" y="26700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640080" y="31455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874520" y="314553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en Perl → luego C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640080" y="36210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Propósito: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1874520" y="362102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Rastrear visitas a su CV en línea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36576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400507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soy un programador real. Solo lanzé</a:t>
            </a:r>
            <a:endParaRPr lang="en-US" sz="1100"/>
          </a:p>
          <a:p>
            <a:pPr marL="0" indent="0">
              <a:buNone/>
            </a:pPr>
            <a:r>
              <a:rPr lang="en-US" sz="11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para resolver mis propios problemas."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Hitos Clave</a:t>
            </a:r>
            <a:endParaRPr lang="en-US" sz="1600"/>
          </a:p>
        </p:txBody>
      </p:sp>
      <p:sp>
        <p:nvSpPr>
          <p:cNvPr id="21" name="Shape 19"/>
          <p:cNvSpPr/>
          <p:nvPr/>
        </p:nvSpPr>
        <p:spPr>
          <a:xfrm>
            <a:off x="4754880" y="1508760"/>
            <a:ext cx="731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50876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1994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577840" y="15270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PHP/FI para rastrear visitas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4754880" y="2039112"/>
            <a:ext cx="731520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03911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1995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5577840" y="20574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PHP/FI al público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4754880" y="2569464"/>
            <a:ext cx="731520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569464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1997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577840" y="25877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Zeev &amp; Andi reescriben el parser</a:t>
            </a:r>
            <a:endParaRPr lang="en-US" sz="1200"/>
          </a:p>
        </p:txBody>
      </p:sp>
      <p:sp>
        <p:nvSpPr>
          <p:cNvPr id="30" name="Shape 28"/>
          <p:cNvSpPr/>
          <p:nvPr/>
        </p:nvSpPr>
        <p:spPr>
          <a:xfrm>
            <a:off x="4754880" y="3099816"/>
            <a:ext cx="7315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099816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1998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5577840" y="3118104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3 — nombre oficial adoptado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4754880" y="3630168"/>
            <a:ext cx="731520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6301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5577840" y="364845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4 — motor Zend Engine</a:t>
            </a:r>
            <a:endParaRPr lang="en-US" sz="1200"/>
          </a:p>
        </p:txBody>
      </p:sp>
      <p:sp>
        <p:nvSpPr>
          <p:cNvPr id="36" name="Shape 34"/>
          <p:cNvSpPr/>
          <p:nvPr/>
        </p:nvSpPr>
        <p:spPr>
          <a:xfrm>
            <a:off x="4754880" y="4160520"/>
            <a:ext cx="7315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16052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Hoy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5577840" y="41788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+70% de sitios web usan PHP</a:t>
            </a:r>
            <a:endParaRPr lang="en-US" sz="1200"/>
          </a:p>
        </p:txBody>
      </p:sp>
      <p:sp>
        <p:nvSpPr>
          <p:cNvPr id="39" name="Shape 3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  <p:pic>
        <p:nvPicPr>
          <p:cNvPr id="41" name="Imagen 4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7" y="126470"/>
            <a:ext cx="2574774" cy="1384458"/>
          </a:xfrm>
          <a:prstGeom prst="rect">
            <a:avLst/>
          </a:prstGeom>
        </p:spPr>
      </p:pic>
      <p:pic>
        <p:nvPicPr>
          <p:cNvPr id="42" name="Imagen 4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736" y="3254324"/>
            <a:ext cx="1283589" cy="855726"/>
          </a:xfrm>
          <a:prstGeom prst="rect">
            <a:avLst/>
          </a:prstGeom>
        </p:spPr>
      </p:pic>
      <p:pic>
        <p:nvPicPr>
          <p:cNvPr id="43" name="Imagen 4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224" y="1741590"/>
            <a:ext cx="1137557" cy="11375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Evolución de PHP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423160"/>
            <a:ext cx="822960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54864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40864"/>
            <a:ext cx="228600" cy="22860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051560"/>
            <a:ext cx="1051560" cy="1261872"/>
          </a:xfrm>
          <a:prstGeom prst="rect">
            <a:avLst/>
          </a:prstGeom>
          <a:solidFill>
            <a:srgbClr val="1E2A3A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051560"/>
            <a:ext cx="1051560" cy="32918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0607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PHP/FI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521208" y="1408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539496" y="1673352"/>
            <a:ext cx="978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versión pública.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Perl iniciales.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2011680" y="2496312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20240" y="234086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2743200"/>
            <a:ext cx="1051560" cy="1261872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91640" y="2743200"/>
            <a:ext cx="105156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27523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3</a:t>
            </a:r>
            <a:endParaRPr lang="en-US" sz="1300"/>
          </a:p>
        </p:txBody>
      </p:sp>
      <p:sp>
        <p:nvSpPr>
          <p:cNvPr id="18" name="Text 16"/>
          <p:cNvSpPr/>
          <p:nvPr/>
        </p:nvSpPr>
        <p:spPr>
          <a:xfrm>
            <a:off x="1709928" y="3099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1998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1728216" y="3364992"/>
            <a:ext cx="978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Renombrado oficialmente.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Zeev &amp; Andi colaboran.</a:t>
            </a:r>
            <a:endParaRPr lang="en-US" sz="950"/>
          </a:p>
        </p:txBody>
      </p:sp>
      <p:sp>
        <p:nvSpPr>
          <p:cNvPr id="20" name="Shape 18"/>
          <p:cNvSpPr/>
          <p:nvPr/>
        </p:nvSpPr>
        <p:spPr>
          <a:xfrm>
            <a:off x="3200400" y="2103120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2340864"/>
            <a:ext cx="228600" cy="2286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80360" y="1051560"/>
            <a:ext cx="1051560" cy="1261872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80360" y="1051560"/>
            <a:ext cx="105156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98648" y="10607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4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2898648" y="1408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2916936" y="1673352"/>
            <a:ext cx="978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Zend Engine.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estabilidad y rendimiento.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4389120" y="2496312"/>
            <a:ext cx="54864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97680" y="2340864"/>
            <a:ext cx="228600" cy="2286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69080" y="2743200"/>
            <a:ext cx="1051560" cy="1261872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69080" y="2743200"/>
            <a:ext cx="105156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87368" y="27523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5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4087368" y="3099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4105656" y="3364992"/>
            <a:ext cx="978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 completo.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y XML mejorados.</a:t>
            </a:r>
            <a:endParaRPr lang="en-US" sz="950"/>
          </a:p>
        </p:txBody>
      </p:sp>
      <p:sp>
        <p:nvSpPr>
          <p:cNvPr id="34" name="Shape 32"/>
          <p:cNvSpPr/>
          <p:nvPr/>
        </p:nvSpPr>
        <p:spPr>
          <a:xfrm>
            <a:off x="5577840" y="2103120"/>
            <a:ext cx="54864" cy="32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0" y="2340864"/>
            <a:ext cx="228600" cy="228600"/>
          </a:xfrm>
          <a:prstGeom prst="ellipse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57800" y="1051560"/>
            <a:ext cx="1051560" cy="1261872"/>
          </a:xfrm>
          <a:prstGeom prst="rect">
            <a:avLst/>
          </a:prstGeom>
          <a:solidFill>
            <a:srgbClr val="1E2A3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57800" y="1051560"/>
            <a:ext cx="1051560" cy="32918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76088" y="10607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6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5276088" y="1408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----</a:t>
            </a:r>
            <a:endParaRPr lang="en-US" sz="1100"/>
          </a:p>
        </p:txBody>
      </p:sp>
      <p:sp>
        <p:nvSpPr>
          <p:cNvPr id="40" name="Text 38"/>
          <p:cNvSpPr/>
          <p:nvPr/>
        </p:nvSpPr>
        <p:spPr>
          <a:xfrm>
            <a:off x="5294376" y="1673352"/>
            <a:ext cx="978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CANCELADO.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lanzado oficialmente.</a:t>
            </a:r>
            <a:endParaRPr lang="en-US" sz="950"/>
          </a:p>
        </p:txBody>
      </p:sp>
      <p:sp>
        <p:nvSpPr>
          <p:cNvPr id="41" name="Shape 39"/>
          <p:cNvSpPr/>
          <p:nvPr/>
        </p:nvSpPr>
        <p:spPr>
          <a:xfrm>
            <a:off x="6766560" y="2496312"/>
            <a:ext cx="54864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75120" y="2340864"/>
            <a:ext cx="228600" cy="2286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46520" y="2743200"/>
            <a:ext cx="1051560" cy="1261872"/>
          </a:xfrm>
          <a:prstGeom prst="rect">
            <a:avLst/>
          </a:prstGeom>
          <a:solidFill>
            <a:srgbClr val="1E2A3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46520" y="2743200"/>
            <a:ext cx="1051560" cy="32918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64808" y="275234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7</a:t>
            </a:r>
            <a:endParaRPr lang="en-US" sz="1300"/>
          </a:p>
        </p:txBody>
      </p:sp>
      <p:sp>
        <p:nvSpPr>
          <p:cNvPr id="46" name="Text 44"/>
          <p:cNvSpPr/>
          <p:nvPr/>
        </p:nvSpPr>
        <p:spPr>
          <a:xfrm>
            <a:off x="6464808" y="3099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6483096" y="3364992"/>
            <a:ext cx="978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más rápido.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Declaraciones de tipo.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7955280" y="2103120"/>
            <a:ext cx="54864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0" y="2340864"/>
            <a:ext cx="228600" cy="2286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635240" y="1051560"/>
            <a:ext cx="1051560" cy="1261872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35240" y="1051560"/>
            <a:ext cx="105156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53528" y="106070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8</a:t>
            </a:r>
            <a:endParaRPr lang="en-US" sz="1300"/>
          </a:p>
        </p:txBody>
      </p:sp>
      <p:sp>
        <p:nvSpPr>
          <p:cNvPr id="53" name="Text 51"/>
          <p:cNvSpPr/>
          <p:nvPr/>
        </p:nvSpPr>
        <p:spPr>
          <a:xfrm>
            <a:off x="7653528" y="1408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100"/>
          </a:p>
        </p:txBody>
      </p:sp>
      <p:sp>
        <p:nvSpPr>
          <p:cNvPr id="54" name="Text 52"/>
          <p:cNvSpPr/>
          <p:nvPr/>
        </p:nvSpPr>
        <p:spPr>
          <a:xfrm>
            <a:off x="7671816" y="1673352"/>
            <a:ext cx="978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 Compiler.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Types, match().</a:t>
            </a:r>
            <a:endParaRPr lang="en-US" sz="950"/>
          </a:p>
        </p:txBody>
      </p:sp>
      <p:sp>
        <p:nvSpPr>
          <p:cNvPr id="55" name="Shape 5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¿Qué es PHP?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1234440"/>
          </a:xfrm>
          <a:prstGeom prst="rect">
            <a:avLst/>
          </a:prstGeom>
          <a:solidFill>
            <a:srgbClr val="1E2A3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— Hypertext Preprocessor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 de código abierto, ampliamente utilizado para el desarrollo web. El código PHP se ejecuta en el servidor y envía el resultado al navegador como HTML.</a:t>
            </a:r>
            <a:endParaRPr lang="en-US" sz="140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1938528" cy="1600200"/>
          </a:xfrm>
          <a:prstGeom prst="rect">
            <a:avLst/>
          </a:prstGeom>
          <a:solidFill>
            <a:srgbClr val="0D111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68880"/>
            <a:ext cx="193852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871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411480" y="2907792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Libre, gratuito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 fuente abierta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2487168" y="2468880"/>
            <a:ext cx="1938528" cy="1600200"/>
          </a:xfrm>
          <a:prstGeom prst="rect">
            <a:avLst/>
          </a:prstGeom>
          <a:solidFill>
            <a:srgbClr val="0D111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87168" y="2468880"/>
            <a:ext cx="1938528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32888" y="24871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del Servidor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2532888" y="2907792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ejecutado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servidor web</a:t>
            </a:r>
            <a:endParaRPr lang="en-US" sz="1300"/>
          </a:p>
        </p:txBody>
      </p:sp>
      <p:sp>
        <p:nvSpPr>
          <p:cNvPr id="17" name="Shape 15"/>
          <p:cNvSpPr/>
          <p:nvPr/>
        </p:nvSpPr>
        <p:spPr>
          <a:xfrm>
            <a:off x="4608576" y="2468880"/>
            <a:ext cx="1938528" cy="1600200"/>
          </a:xfrm>
          <a:prstGeom prst="rect">
            <a:avLst/>
          </a:prstGeom>
          <a:solidFill>
            <a:srgbClr val="0D111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2468880"/>
            <a:ext cx="193852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24871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Dinámica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4654296" y="2907792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HTML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dinámicamente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6729984" y="2468880"/>
            <a:ext cx="1938528" cy="1600200"/>
          </a:xfrm>
          <a:prstGeom prst="rect">
            <a:avLst/>
          </a:prstGeom>
          <a:solidFill>
            <a:srgbClr val="0D1117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9984" y="2468880"/>
            <a:ext cx="1938528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75704" y="248716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6775704" y="2907792"/>
            <a:ext cx="18470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Linux, Windows,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y más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2336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Entorno recomendado: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64008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APACHE  +  PHP  +  MySQL  →  XAMPP  (IDE para enseñanza)</a:t>
            </a:r>
            <a:endParaRPr lang="en-US" sz="1300"/>
          </a:p>
        </p:txBody>
      </p:sp>
      <p:sp>
        <p:nvSpPr>
          <p:cNvPr id="28" name="Shape 2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Entorno de Desarrollo: XAMPP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938528" cy="2377440"/>
          </a:xfrm>
          <a:prstGeom prst="rect">
            <a:avLst/>
          </a:prstGeom>
          <a:solidFill>
            <a:srgbClr val="1E2A3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938528" cy="4114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Apache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411480" y="15727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Web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peticiones HTTP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sirve páginas web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2487168" y="1097280"/>
            <a:ext cx="1938528" cy="23774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87168" y="1097280"/>
            <a:ext cx="193852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32888" y="1115568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PHP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2532888" y="15727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</a:t>
            </a:r>
            <a:endParaRPr lang="en-US" sz="1300"/>
          </a:p>
        </p:txBody>
      </p:sp>
      <p:sp>
        <p:nvSpPr>
          <p:cNvPr id="14" name="Text 12"/>
          <p:cNvSpPr/>
          <p:nvPr/>
        </p:nvSpPr>
        <p:spPr>
          <a:xfrm>
            <a:off x="2578608" y="192024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el código y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HTML dinámico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4608576" y="1097280"/>
            <a:ext cx="1938528" cy="2377440"/>
          </a:xfrm>
          <a:prstGeom prst="rect">
            <a:avLst/>
          </a:prstGeom>
          <a:solidFill>
            <a:srgbClr val="1E2A3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097280"/>
            <a:ext cx="1938528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54296" y="1115568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MySQL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4654296" y="15727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4700016" y="192024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gestiona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del sitio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6729984" y="1097280"/>
            <a:ext cx="1938528" cy="23774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29984" y="1097280"/>
            <a:ext cx="193852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1115568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XAMPP</a:t>
            </a:r>
            <a:endParaRPr lang="en-US" sz="1700"/>
          </a:p>
        </p:txBody>
      </p:sp>
      <p:sp>
        <p:nvSpPr>
          <p:cNvPr id="23" name="Text 21"/>
          <p:cNvSpPr/>
          <p:nvPr/>
        </p:nvSpPr>
        <p:spPr>
          <a:xfrm>
            <a:off x="6775704" y="157276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Todo-en-Uno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6821424" y="1920240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Apache + PHP</a:t>
            </a:r>
            <a:endParaRPr lang="en-US" sz="1200"/>
          </a:p>
          <a:p>
            <a:pPr marL="0" indent="0" algn="ctr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MySQL con un click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2258568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94A3B8"/>
                </a:solidFill>
              </a:rPr>
              <a:t>→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4379976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>
                <a:solidFill>
                  <a:srgbClr val="94A3B8"/>
                </a:solidFill>
              </a:rPr>
              <a:t>→</a:t>
            </a:r>
            <a:endParaRPr lang="en-US" sz="220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703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funciona?</a:t>
            </a:r>
            <a:endParaRPr lang="en-US" sz="1300"/>
          </a:p>
        </p:txBody>
      </p:sp>
      <p:sp>
        <p:nvSpPr>
          <p:cNvPr id="29" name="Text 27"/>
          <p:cNvSpPr/>
          <p:nvPr/>
        </p:nvSpPr>
        <p:spPr>
          <a:xfrm>
            <a:off x="640080" y="40233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pide página →  </a:t>
            </a:r>
            <a:r>
              <a:rPr lang="en-US" sz="1300" b="1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pasa a →  </a:t>
            </a:r>
            <a:r>
              <a:rPr lang="en-US" sz="13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consulta →  </a:t>
            </a:r>
            <a:r>
              <a:rPr lang="en-US" sz="13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r>
              <a:rPr lang="en-US" sz="13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devuelve HTML → Navegador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Salida de Datos: echo()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82296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lenguaje PHP para imprimir una o más cadenas de texto. Es la forma más común y rápida de mostrar datos.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Características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usarse con o sin paréntesis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457200" y="2816352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7977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múltiples argumentos separados por comas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457200" y="3236976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devuelve ningún valor (sin return)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62102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ligeramente más rápida que print()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754880" y="2011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de Código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4573673" y="2514210"/>
            <a:ext cx="411480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514600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 paréntesis
</a:t>
            </a: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echo("Hola, mundo!");
</a:t>
            </a: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 paréntesis
</a:t>
            </a: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"Hola, mundo!";
</a:t>
            </a: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Múltiples argumentos
</a:t>
            </a: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"Hola ", $nombre, "!";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Salida de Datos: print() y printf()</a:t>
            </a:r>
            <a:endParaRPr lang="en-US" sz="27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361188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411480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4023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502920" y="1572768"/>
            <a:ext cx="1645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acepta un argumento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502920" y="1920240"/>
            <a:ext cx="1645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siempre el valor 1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02920" y="2267712"/>
            <a:ext cx="1645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2240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usarse en expresiones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502920" y="2615184"/>
            <a:ext cx="16459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2587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Ligeramente más lenta que echo()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457200" y="3035808"/>
            <a:ext cx="39319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9067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print("Hola, mundo!");
</a:t>
            </a:r>
            <a:r>
              <a:rPr lang="en-US" sz="11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Retorna 1
</a:t>
            </a: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 = print("Hola!");
</a:t>
            </a:r>
            <a:r>
              <a:rPr lang="en-US" sz="11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$r; // Imprime: 1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14800" cy="361188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051560"/>
            <a:ext cx="411480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1069848"/>
            <a:ext cx="4023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printf()</a:t>
            </a:r>
            <a:endParaRPr lang="en-US" sz="1800"/>
          </a:p>
        </p:txBody>
      </p:sp>
      <p:sp>
        <p:nvSpPr>
          <p:cNvPr id="21" name="Shape 19"/>
          <p:cNvSpPr/>
          <p:nvPr/>
        </p:nvSpPr>
        <p:spPr>
          <a:xfrm>
            <a:off x="4800600" y="1572768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15453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%s → cadena de texto</a:t>
            </a:r>
            <a:endParaRPr lang="en-US" sz="1250"/>
          </a:p>
        </p:txBody>
      </p:sp>
      <p:sp>
        <p:nvSpPr>
          <p:cNvPr id="23" name="Shape 21"/>
          <p:cNvSpPr/>
          <p:nvPr/>
        </p:nvSpPr>
        <p:spPr>
          <a:xfrm>
            <a:off x="4800600" y="1920240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8928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%d → número entero</a:t>
            </a:r>
            <a:endParaRPr lang="en-US" sz="1250"/>
          </a:p>
        </p:txBody>
      </p:sp>
      <p:sp>
        <p:nvSpPr>
          <p:cNvPr id="25" name="Shape 23"/>
          <p:cNvSpPr/>
          <p:nvPr/>
        </p:nvSpPr>
        <p:spPr>
          <a:xfrm>
            <a:off x="4800600" y="2267712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309135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%f → número flotante</a:t>
            </a:r>
            <a:endParaRPr lang="en-US" sz="1250"/>
          </a:p>
        </p:txBody>
      </p:sp>
      <p:sp>
        <p:nvSpPr>
          <p:cNvPr id="27" name="Shape 25"/>
          <p:cNvSpPr/>
          <p:nvPr/>
        </p:nvSpPr>
        <p:spPr>
          <a:xfrm>
            <a:off x="4800600" y="2615184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587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Devuelve cantidad de caracteres</a:t>
            </a:r>
            <a:endParaRPr lang="en-US" sz="1250"/>
          </a:p>
        </p:txBody>
      </p:sp>
      <p:sp>
        <p:nvSpPr>
          <p:cNvPr id="29" name="Shape 27"/>
          <p:cNvSpPr/>
          <p:nvPr/>
        </p:nvSpPr>
        <p:spPr>
          <a:xfrm>
            <a:off x="4754880" y="3035808"/>
            <a:ext cx="393192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090672"/>
            <a:ext cx="37490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"Mundo";
$n = 42;
printf("Hola, %s! N°: %d", $nombre,$n);
$p = 1234.5678;
</a:t>
            </a:r>
            <a:r>
              <a:rPr lang="en-US" sz="11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printf("$%.2f", $p); // $1234.57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Comparación: echo vs print vs printf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69164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0704"/>
            <a:ext cx="1618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30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2029968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06070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echo()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4279392" y="1051560"/>
            <a:ext cx="2029968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06070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6419088" y="1051560"/>
            <a:ext cx="23774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060704"/>
            <a:ext cx="23042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365760" y="1481328"/>
            <a:ext cx="8430768" cy="393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481328"/>
            <a:ext cx="54864" cy="3931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2704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2240280" y="1527048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Construcción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370832" y="1527048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Función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6510528" y="152704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Función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365760" y="1930803"/>
            <a:ext cx="8430768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1911096"/>
            <a:ext cx="54864" cy="3931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195681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Argumentos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2240280" y="1956816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Múltiples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4370832" y="1956816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Uno solo</a:t>
            </a:r>
            <a:endParaRPr lang="en-US" sz="1200"/>
          </a:p>
        </p:txBody>
      </p:sp>
      <p:sp>
        <p:nvSpPr>
          <p:cNvPr id="24" name="Text 22"/>
          <p:cNvSpPr/>
          <p:nvPr/>
        </p:nvSpPr>
        <p:spPr>
          <a:xfrm>
            <a:off x="6510528" y="195681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 + vars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365760" y="2340864"/>
            <a:ext cx="8430768" cy="393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340864"/>
            <a:ext cx="54864" cy="3931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386584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valor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2240280" y="2386584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4370832" y="2386584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(1)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6510528" y="2386584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(# chars)</a:t>
            </a:r>
            <a:endParaRPr lang="en-US" sz="1200"/>
          </a:p>
        </p:txBody>
      </p:sp>
      <p:sp>
        <p:nvSpPr>
          <p:cNvPr id="31" name="Shape 29"/>
          <p:cNvSpPr/>
          <p:nvPr/>
        </p:nvSpPr>
        <p:spPr>
          <a:xfrm>
            <a:off x="365760" y="2770632"/>
            <a:ext cx="8430768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2770632"/>
            <a:ext cx="54864" cy="3931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2816352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</a:t>
            </a:r>
            <a:endParaRPr lang="en-US" sz="1200"/>
          </a:p>
        </p:txBody>
      </p:sp>
      <p:sp>
        <p:nvSpPr>
          <p:cNvPr id="34" name="Text 32"/>
          <p:cNvSpPr/>
          <p:nvPr/>
        </p:nvSpPr>
        <p:spPr>
          <a:xfrm>
            <a:off x="2240280" y="2816352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Más rápida</a:t>
            </a:r>
            <a:endParaRPr lang="en-US" sz="1200"/>
          </a:p>
        </p:txBody>
      </p:sp>
      <p:sp>
        <p:nvSpPr>
          <p:cNvPr id="35" name="Text 33"/>
          <p:cNvSpPr/>
          <p:nvPr/>
        </p:nvSpPr>
        <p:spPr>
          <a:xfrm>
            <a:off x="4370832" y="2816352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6510528" y="2816352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200"/>
          </a:p>
        </p:txBody>
      </p:sp>
      <p:sp>
        <p:nvSpPr>
          <p:cNvPr id="37" name="Shape 35"/>
          <p:cNvSpPr/>
          <p:nvPr/>
        </p:nvSpPr>
        <p:spPr>
          <a:xfrm>
            <a:off x="365760" y="3200400"/>
            <a:ext cx="8430768" cy="393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200400"/>
            <a:ext cx="54864" cy="3931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246120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200"/>
          </a:p>
        </p:txBody>
      </p:sp>
      <p:sp>
        <p:nvSpPr>
          <p:cNvPr id="40" name="Text 38"/>
          <p:cNvSpPr/>
          <p:nvPr/>
        </p:nvSpPr>
        <p:spPr>
          <a:xfrm>
            <a:off x="2240280" y="3246120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/>
          </a:p>
        </p:txBody>
      </p:sp>
      <p:sp>
        <p:nvSpPr>
          <p:cNvPr id="41" name="Text 39"/>
          <p:cNvSpPr/>
          <p:nvPr/>
        </p:nvSpPr>
        <p:spPr>
          <a:xfrm>
            <a:off x="4370832" y="3246120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/>
          </a:p>
        </p:txBody>
      </p:sp>
      <p:sp>
        <p:nvSpPr>
          <p:cNvPr id="42" name="Text 40"/>
          <p:cNvSpPr/>
          <p:nvPr/>
        </p:nvSpPr>
        <p:spPr>
          <a:xfrm>
            <a:off x="6510528" y="3246120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Sí (%s %d %f)</a:t>
            </a:r>
            <a:endParaRPr lang="en-US" sz="1200"/>
          </a:p>
        </p:txBody>
      </p:sp>
      <p:sp>
        <p:nvSpPr>
          <p:cNvPr id="43" name="Shape 41"/>
          <p:cNvSpPr/>
          <p:nvPr/>
        </p:nvSpPr>
        <p:spPr>
          <a:xfrm>
            <a:off x="365760" y="3630168"/>
            <a:ext cx="8430768" cy="393192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5760" y="3630168"/>
            <a:ext cx="54864" cy="3931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675888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Con/sin (  )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2240280" y="3675888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Ambas formas</a:t>
            </a:r>
            <a:endParaRPr lang="en-US" sz="1200"/>
          </a:p>
        </p:txBody>
      </p:sp>
      <p:sp>
        <p:nvSpPr>
          <p:cNvPr id="47" name="Text 45"/>
          <p:cNvSpPr/>
          <p:nvPr/>
        </p:nvSpPr>
        <p:spPr>
          <a:xfrm>
            <a:off x="4370832" y="3675888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Ambas formas</a:t>
            </a:r>
            <a:endParaRPr lang="en-US" sz="1200"/>
          </a:p>
        </p:txBody>
      </p:sp>
      <p:sp>
        <p:nvSpPr>
          <p:cNvPr id="48" name="Text 46"/>
          <p:cNvSpPr/>
          <p:nvPr/>
        </p:nvSpPr>
        <p:spPr>
          <a:xfrm>
            <a:off x="6510528" y="3675888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Requiere ( )</a:t>
            </a:r>
            <a:endParaRPr lang="en-US" sz="1200"/>
          </a:p>
        </p:txBody>
      </p:sp>
      <p:sp>
        <p:nvSpPr>
          <p:cNvPr id="49" name="Shape 47"/>
          <p:cNvSpPr/>
          <p:nvPr/>
        </p:nvSpPr>
        <p:spPr>
          <a:xfrm>
            <a:off x="365760" y="4059936"/>
            <a:ext cx="8430768" cy="393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4059936"/>
            <a:ext cx="54864" cy="3931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105656"/>
            <a:ext cx="1554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</a:t>
            </a:r>
            <a:endParaRPr lang="en-US" sz="1200"/>
          </a:p>
        </p:txBody>
      </p:sp>
      <p:sp>
        <p:nvSpPr>
          <p:cNvPr id="52" name="Text 50"/>
          <p:cNvSpPr/>
          <p:nvPr/>
        </p:nvSpPr>
        <p:spPr>
          <a:xfrm>
            <a:off x="2240280" y="4105656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Uso general</a:t>
            </a:r>
            <a:endParaRPr lang="en-US" sz="1200"/>
          </a:p>
        </p:txBody>
      </p:sp>
      <p:sp>
        <p:nvSpPr>
          <p:cNvPr id="53" name="Text 51"/>
          <p:cNvSpPr/>
          <p:nvPr/>
        </p:nvSpPr>
        <p:spPr>
          <a:xfrm>
            <a:off x="4370832" y="4105656"/>
            <a:ext cx="189280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expresiones</a:t>
            </a:r>
            <a:endParaRPr lang="en-US" sz="1200"/>
          </a:p>
        </p:txBody>
      </p:sp>
      <p:sp>
        <p:nvSpPr>
          <p:cNvPr id="54" name="Text 52"/>
          <p:cNvSpPr/>
          <p:nvPr/>
        </p:nvSpPr>
        <p:spPr>
          <a:xfrm>
            <a:off x="6510528" y="4105656"/>
            <a:ext cx="2240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Formatear output</a:t>
            </a:r>
            <a:endParaRPr lang="en-US" sz="1200"/>
          </a:p>
        </p:txBody>
      </p:sp>
      <p:sp>
        <p:nvSpPr>
          <p:cNvPr id="55" name="Shape 5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 Datos Escalares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938528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938528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69848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457200" y="1517904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enteros, positivos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negativos, sin decimales.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 -2^31 a 2^31-1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29768" y="2880360"/>
            <a:ext cx="1810512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907792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$entero = 42;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2487168" y="1051560"/>
            <a:ext cx="1938528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1051560"/>
            <a:ext cx="1938528" cy="4114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32888" y="1069848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2578608" y="1517904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con punto decimal.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llamados 'double'.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3.14, -0.5, 1.2e3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2551176" y="2880360"/>
            <a:ext cx="1810512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907792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$flotante = 3.14;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4608576" y="1051560"/>
            <a:ext cx="1938528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1051560"/>
            <a:ext cx="1938528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54296" y="1069848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4700016" y="1517904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de caracteres.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Delimitada por comillas simples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dobles.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4672584" y="2880360"/>
            <a:ext cx="1810512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2907792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"Hola";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6729984" y="1051560"/>
            <a:ext cx="1938528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9984" y="1051560"/>
            <a:ext cx="1938528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75704" y="1069848"/>
            <a:ext cx="184708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6821424" y="1517904"/>
            <a:ext cx="17556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lógico: true o false.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condiciones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flags de estado.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6793992" y="2880360"/>
            <a:ext cx="1810512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2907792"/>
            <a:ext cx="17190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$activo = true;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Tipos de Datos Compuestos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(Arreglos)</a:t>
            </a:r>
            <a:endParaRPr lang="en-US" sz="160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4114800" cy="3200400"/>
          </a:xfrm>
          <a:prstGeom prst="rect">
            <a:avLst/>
          </a:prstGeom>
          <a:solidFill>
            <a:srgbClr val="1E2A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109728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7218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Indexado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548640" y="1746504"/>
            <a:ext cx="39319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77393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$arr = array(1, 2, 3);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bien: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$arr = [1, 2, 3];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109728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7802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Asociativo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39319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77977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$arr = array(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"nombre" =&gt; "Juan",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"edad"   =&gt; 30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097280" cy="25603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483864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Multidimensional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548640" y="3785726"/>
            <a:ext cx="393192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78561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$mat = [[1,2],[3,4]];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$mat[0][1]; // 2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(Object)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4846320" y="1389888"/>
            <a:ext cx="3931920" cy="219456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46304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Persona {
  public $nombre;
  public $edad;
}
$juan = new Persona();
$juan-&gt;nombre = "Juan";
$juan-&gt;edad   = 30;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846320" y="3703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 Tipos</a:t>
            </a:r>
            <a:endParaRPr lang="en-US" sz="1600"/>
          </a:p>
        </p:txBody>
      </p:sp>
      <p:sp>
        <p:nvSpPr>
          <p:cNvPr id="23" name="Shape 21"/>
          <p:cNvSpPr/>
          <p:nvPr/>
        </p:nvSpPr>
        <p:spPr>
          <a:xfrm>
            <a:off x="4846320" y="4069080"/>
            <a:ext cx="1188720" cy="347472"/>
          </a:xfrm>
          <a:prstGeom prst="rect">
            <a:avLst/>
          </a:prstGeom>
          <a:solidFill>
            <a:srgbClr val="0D111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</a:t>
            </a:r>
            <a:endParaRPr lang="en-US" sz="1100"/>
          </a:p>
        </p:txBody>
      </p:sp>
      <p:sp>
        <p:nvSpPr>
          <p:cNvPr id="25" name="Shape 23"/>
          <p:cNvSpPr/>
          <p:nvPr/>
        </p:nvSpPr>
        <p:spPr>
          <a:xfrm>
            <a:off x="6172200" y="4069080"/>
            <a:ext cx="1188720" cy="347472"/>
          </a:xfrm>
          <a:prstGeom prst="rect">
            <a:avLst/>
          </a:prstGeom>
          <a:solidFill>
            <a:srgbClr val="0D111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7498080" y="4069080"/>
            <a:ext cx="1188720" cy="347472"/>
          </a:xfrm>
          <a:prstGeom prst="rect">
            <a:avLst/>
          </a:prstGeom>
          <a:solidFill>
            <a:srgbClr val="0D111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Iterable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4846320" y="4471416"/>
            <a:ext cx="1188720" cy="347472"/>
          </a:xfrm>
          <a:prstGeom prst="rect">
            <a:avLst/>
          </a:prstGeom>
          <a:solidFill>
            <a:srgbClr val="0D111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4471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6172200" y="4471416"/>
            <a:ext cx="1188720" cy="347472"/>
          </a:xfrm>
          <a:prstGeom prst="rect">
            <a:avLst/>
          </a:prstGeom>
          <a:solidFill>
            <a:srgbClr val="0D111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4471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Types</a:t>
            </a:r>
            <a:endParaRPr lang="en-US" sz="1100"/>
          </a:p>
        </p:txBody>
      </p:sp>
      <p:sp>
        <p:nvSpPr>
          <p:cNvPr id="33" name="Shape 31"/>
          <p:cNvSpPr/>
          <p:nvPr/>
        </p:nvSpPr>
        <p:spPr>
          <a:xfrm>
            <a:off x="7498080" y="4471416"/>
            <a:ext cx="1188720" cy="347472"/>
          </a:xfrm>
          <a:prstGeom prst="rect">
            <a:avLst/>
          </a:prstGeom>
          <a:solidFill>
            <a:srgbClr val="0D1117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44714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Conversión de Tipos de Datos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393192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6984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Automática (Implícita)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convierte automáticamente cuando los tipos no coinciden.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93192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38528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Número → String
</a:t>
            </a: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 = 123;
$s = "El número es " . $n;
// $s → "El número es 123"
</a:t>
            </a:r>
            <a:r>
              <a:rPr lang="en-US" sz="11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→ Número
</a:t>
            </a: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 = "100";
$r = $s + 50; // → 150
</a:t>
            </a:r>
            <a:r>
              <a:rPr lang="en-US" sz="11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Bool → Número
</a:t>
            </a: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 = 10 + true; // → 11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69848"/>
            <a:ext cx="3840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Explícita (Casting)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programador fuerza la conversión con (tipo).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4754880" y="1874520"/>
            <a:ext cx="3931920" cy="2468880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938528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Sintaxis general
</a:t>
            </a: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$var = (tipo) $original;
</a:t>
            </a:r>
            <a:r>
              <a:rPr lang="en-US" sz="11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 → int
</a:t>
            </a: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 = "123.45";
$i = (int) $s;  // → 123
</a:t>
            </a:r>
            <a:r>
              <a:rPr lang="en-US" sz="115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int → string
</a:t>
            </a: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 = 150;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 = (string) $n; // → "150"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Constantes en PHP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constante es un identificador cuyo valor no puede cambiar durante la ejecución.</a:t>
            </a:r>
            <a:endParaRPr lang="en-US" sz="1400"/>
          </a:p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convención se escriben en MAYÚSCULAS.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define() — en tiempo de ejecución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3931920" cy="196596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423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define('NOMBRE', valor);
define('PI', 3.1416);
define('SITIO', 'MiWeb');
</a:t>
            </a: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PI;    // 3.1416
echo SITIO; // MiWeb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754880" y="19659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 — en tiempo de compilación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754880" y="2350008"/>
            <a:ext cx="3931920" cy="19659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423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NOMBRE = valor;
const VERSION = '8.0';
</a:t>
            </a: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VERSION; // 8.0
</a:t>
            </a:r>
            <a:r>
              <a:rPr lang="en-US" sz="120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 No puede usarse en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bloques condicionales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solidFill>
            <a:srgbClr val="7C3AED">
              <a:alpha val="3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47141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Las constantes son globales por defecto y no necesitan el signo $ para usarse.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Operadores Aritméticos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2606040" cy="150876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68580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685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2600"/>
          </a:p>
        </p:txBody>
      </p:sp>
      <p:sp>
        <p:nvSpPr>
          <p:cNvPr id="8" name="Text 6"/>
          <p:cNvSpPr/>
          <p:nvPr/>
        </p:nvSpPr>
        <p:spPr>
          <a:xfrm>
            <a:off x="1143000" y="1207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1143000" y="1609344"/>
            <a:ext cx="1719072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6276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+ $b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143000" y="2121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5+3 = 8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2606040" cy="1508760"/>
          </a:xfrm>
          <a:prstGeom prst="rect">
            <a:avLst/>
          </a:prstGeom>
          <a:solidFill>
            <a:srgbClr val="1E2A3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097280"/>
            <a:ext cx="685800" cy="1508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097280"/>
            <a:ext cx="685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3931920" y="1207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3931920" y="1609344"/>
            <a:ext cx="1719072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6276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- $b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3931920" y="2121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10-6 = 4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943600" y="1097280"/>
            <a:ext cx="2606040" cy="150876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097280"/>
            <a:ext cx="68580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097280"/>
            <a:ext cx="685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2600"/>
          </a:p>
        </p:txBody>
      </p:sp>
      <p:sp>
        <p:nvSpPr>
          <p:cNvPr id="22" name="Text 20"/>
          <p:cNvSpPr/>
          <p:nvPr/>
        </p:nvSpPr>
        <p:spPr>
          <a:xfrm>
            <a:off x="6720840" y="12070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500"/>
          </a:p>
        </p:txBody>
      </p:sp>
      <p:sp>
        <p:nvSpPr>
          <p:cNvPr id="23" name="Shape 21"/>
          <p:cNvSpPr/>
          <p:nvPr/>
        </p:nvSpPr>
        <p:spPr>
          <a:xfrm>
            <a:off x="6720840" y="1609344"/>
            <a:ext cx="1719072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62763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* $b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6720840" y="212140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4*7 = 28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365760" y="2788920"/>
            <a:ext cx="2606040" cy="150876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88920"/>
            <a:ext cx="685800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788920"/>
            <a:ext cx="685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2600"/>
          </a:p>
        </p:txBody>
      </p:sp>
      <p:sp>
        <p:nvSpPr>
          <p:cNvPr id="29" name="Text 27"/>
          <p:cNvSpPr/>
          <p:nvPr/>
        </p:nvSpPr>
        <p:spPr>
          <a:xfrm>
            <a:off x="1143000" y="28986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División</a:t>
            </a:r>
            <a:endParaRPr lang="en-US" sz="1500"/>
          </a:p>
        </p:txBody>
      </p:sp>
      <p:sp>
        <p:nvSpPr>
          <p:cNvPr id="30" name="Shape 28"/>
          <p:cNvSpPr/>
          <p:nvPr/>
        </p:nvSpPr>
        <p:spPr>
          <a:xfrm>
            <a:off x="1143000" y="3300984"/>
            <a:ext cx="1719072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319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/ $b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1143000" y="38130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20/4 = 5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3154680" y="2788920"/>
            <a:ext cx="2606040" cy="1508760"/>
          </a:xfrm>
          <a:prstGeom prst="rect">
            <a:avLst/>
          </a:prstGeom>
          <a:solidFill>
            <a:srgbClr val="1E2A3A"/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54680" y="2788920"/>
            <a:ext cx="685800" cy="15087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54680" y="2788920"/>
            <a:ext cx="685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2600"/>
          </a:p>
        </p:txBody>
      </p:sp>
      <p:sp>
        <p:nvSpPr>
          <p:cNvPr id="36" name="Text 34"/>
          <p:cNvSpPr/>
          <p:nvPr/>
        </p:nvSpPr>
        <p:spPr>
          <a:xfrm>
            <a:off x="3931920" y="28986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500"/>
          </a:p>
        </p:txBody>
      </p:sp>
      <p:sp>
        <p:nvSpPr>
          <p:cNvPr id="37" name="Shape 35"/>
          <p:cNvSpPr/>
          <p:nvPr/>
        </p:nvSpPr>
        <p:spPr>
          <a:xfrm>
            <a:off x="3931920" y="3300984"/>
            <a:ext cx="1719072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77640" y="3319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% $b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3931920" y="38130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10%3 = 1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5943600" y="2788920"/>
            <a:ext cx="2606040" cy="150876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2788920"/>
            <a:ext cx="685800" cy="1508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2788920"/>
            <a:ext cx="685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2600"/>
          </a:p>
        </p:txBody>
      </p:sp>
      <p:sp>
        <p:nvSpPr>
          <p:cNvPr id="43" name="Text 41"/>
          <p:cNvSpPr/>
          <p:nvPr/>
        </p:nvSpPr>
        <p:spPr>
          <a:xfrm>
            <a:off x="6720840" y="289864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Exponente</a:t>
            </a:r>
            <a:endParaRPr lang="en-US" sz="1500"/>
          </a:p>
        </p:txBody>
      </p:sp>
      <p:sp>
        <p:nvSpPr>
          <p:cNvPr id="44" name="Shape 42"/>
          <p:cNvSpPr/>
          <p:nvPr/>
        </p:nvSpPr>
        <p:spPr>
          <a:xfrm>
            <a:off x="6720840" y="3300984"/>
            <a:ext cx="1719072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3319272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** $b</a:t>
            </a:r>
            <a:endParaRPr lang="en-US" sz="1200"/>
          </a:p>
        </p:txBody>
      </p:sp>
      <p:sp>
        <p:nvSpPr>
          <p:cNvPr id="46" name="Text 44"/>
          <p:cNvSpPr/>
          <p:nvPr/>
        </p:nvSpPr>
        <p:spPr>
          <a:xfrm>
            <a:off x="6720840" y="3813048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2**3 = 8</a:t>
            </a:r>
            <a:endParaRPr lang="en-US" sz="1200"/>
          </a:p>
        </p:txBody>
      </p:sp>
      <p:sp>
        <p:nvSpPr>
          <p:cNvPr id="47" name="Shape 4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Operadores de Asignación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operadores de asignación combinan la asignación (=) con otra operación. Son atajos que hacen el código más conciso.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914400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1874520"/>
            <a:ext cx="2651760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0" y="1874520"/>
            <a:ext cx="2011680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874520"/>
            <a:ext cx="2377440" cy="29260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836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508760" y="18836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251960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6355080" y="18836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 a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822960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240280"/>
            <a:ext cx="54864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258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1463040" y="2258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simple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4206240" y="2258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10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6309360" y="22585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10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457200" y="2578608"/>
            <a:ext cx="8229600" cy="3200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578608"/>
            <a:ext cx="54864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5968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+=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1463040" y="25968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y asigna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4206240" y="25968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+= 5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6309360" y="2596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$a + 5</a:t>
            </a:r>
            <a:endParaRPr lang="en-US" sz="1200"/>
          </a:p>
        </p:txBody>
      </p:sp>
      <p:sp>
        <p:nvSpPr>
          <p:cNvPr id="28" name="Shape 26"/>
          <p:cNvSpPr/>
          <p:nvPr/>
        </p:nvSpPr>
        <p:spPr>
          <a:xfrm>
            <a:off x="457200" y="2916936"/>
            <a:ext cx="822960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2916936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9352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-=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1463040" y="29352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y asigna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4206240" y="2935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-= 3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6309360" y="29352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$a - 3</a:t>
            </a:r>
            <a:endParaRPr lang="en-US" sz="1200"/>
          </a:p>
        </p:txBody>
      </p:sp>
      <p:sp>
        <p:nvSpPr>
          <p:cNvPr id="34" name="Shape 3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255264"/>
            <a:ext cx="54864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2735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*=</a:t>
            </a:r>
            <a:endParaRPr lang="en-US" sz="1300"/>
          </a:p>
        </p:txBody>
      </p:sp>
      <p:sp>
        <p:nvSpPr>
          <p:cNvPr id="37" name="Text 35"/>
          <p:cNvSpPr/>
          <p:nvPr/>
        </p:nvSpPr>
        <p:spPr>
          <a:xfrm>
            <a:off x="1463040" y="32735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 y asigna</a:t>
            </a:r>
            <a:endParaRPr lang="en-US" sz="1200"/>
          </a:p>
        </p:txBody>
      </p:sp>
      <p:sp>
        <p:nvSpPr>
          <p:cNvPr id="38" name="Text 36"/>
          <p:cNvSpPr/>
          <p:nvPr/>
        </p:nvSpPr>
        <p:spPr>
          <a:xfrm>
            <a:off x="4206240" y="3273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*= 2</a:t>
            </a:r>
            <a:endParaRPr lang="en-US" sz="1200"/>
          </a:p>
        </p:txBody>
      </p:sp>
      <p:sp>
        <p:nvSpPr>
          <p:cNvPr id="39" name="Text 37"/>
          <p:cNvSpPr/>
          <p:nvPr/>
        </p:nvSpPr>
        <p:spPr>
          <a:xfrm>
            <a:off x="630936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$a * 2</a:t>
            </a:r>
            <a:endParaRPr lang="en-US" sz="1200"/>
          </a:p>
        </p:txBody>
      </p:sp>
      <p:sp>
        <p:nvSpPr>
          <p:cNvPr id="40" name="Shape 38"/>
          <p:cNvSpPr/>
          <p:nvPr/>
        </p:nvSpPr>
        <p:spPr>
          <a:xfrm>
            <a:off x="457200" y="3593592"/>
            <a:ext cx="822960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3593592"/>
            <a:ext cx="54864" cy="320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611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/=</a:t>
            </a:r>
            <a:endParaRPr lang="en-US" sz="1300"/>
          </a:p>
        </p:txBody>
      </p:sp>
      <p:sp>
        <p:nvSpPr>
          <p:cNvPr id="43" name="Text 41"/>
          <p:cNvSpPr/>
          <p:nvPr/>
        </p:nvSpPr>
        <p:spPr>
          <a:xfrm>
            <a:off x="1463040" y="3611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y asigna</a:t>
            </a:r>
            <a:endParaRPr lang="en-US" sz="1200"/>
          </a:p>
        </p:txBody>
      </p:sp>
      <p:sp>
        <p:nvSpPr>
          <p:cNvPr id="44" name="Text 42"/>
          <p:cNvSpPr/>
          <p:nvPr/>
        </p:nvSpPr>
        <p:spPr>
          <a:xfrm>
            <a:off x="4206240" y="3611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/= 4</a:t>
            </a:r>
            <a:endParaRPr lang="en-US" sz="1200"/>
          </a:p>
        </p:txBody>
      </p:sp>
      <p:sp>
        <p:nvSpPr>
          <p:cNvPr id="45" name="Text 43"/>
          <p:cNvSpPr/>
          <p:nvPr/>
        </p:nvSpPr>
        <p:spPr>
          <a:xfrm>
            <a:off x="6309360" y="3611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$a / 4</a:t>
            </a:r>
            <a:endParaRPr lang="en-US" sz="1200"/>
          </a:p>
        </p:txBody>
      </p:sp>
      <p:sp>
        <p:nvSpPr>
          <p:cNvPr id="46" name="Shape 44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7200" y="3931920"/>
            <a:ext cx="54864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39502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%=</a:t>
            </a:r>
            <a:endParaRPr lang="en-US" sz="1300"/>
          </a:p>
        </p:txBody>
      </p:sp>
      <p:sp>
        <p:nvSpPr>
          <p:cNvPr id="49" name="Text 47"/>
          <p:cNvSpPr/>
          <p:nvPr/>
        </p:nvSpPr>
        <p:spPr>
          <a:xfrm>
            <a:off x="1463040" y="39502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y asigna</a:t>
            </a:r>
            <a:endParaRPr lang="en-US" sz="1200"/>
          </a:p>
        </p:txBody>
      </p:sp>
      <p:sp>
        <p:nvSpPr>
          <p:cNvPr id="50" name="Text 48"/>
          <p:cNvSpPr/>
          <p:nvPr/>
        </p:nvSpPr>
        <p:spPr>
          <a:xfrm>
            <a:off x="4206240" y="3950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%= 3</a:t>
            </a:r>
            <a:endParaRPr lang="en-US" sz="1200"/>
          </a:p>
        </p:txBody>
      </p:sp>
      <p:sp>
        <p:nvSpPr>
          <p:cNvPr id="51" name="Text 49"/>
          <p:cNvSpPr/>
          <p:nvPr/>
        </p:nvSpPr>
        <p:spPr>
          <a:xfrm>
            <a:off x="6309360" y="3950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$a % 3</a:t>
            </a:r>
            <a:endParaRPr lang="en-US" sz="1200"/>
          </a:p>
        </p:txBody>
      </p:sp>
      <p:sp>
        <p:nvSpPr>
          <p:cNvPr id="52" name="Shape 50"/>
          <p:cNvSpPr/>
          <p:nvPr/>
        </p:nvSpPr>
        <p:spPr>
          <a:xfrm>
            <a:off x="457200" y="4270248"/>
            <a:ext cx="822960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4270248"/>
            <a:ext cx="54864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4288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.=</a:t>
            </a:r>
            <a:endParaRPr lang="en-US" sz="1300"/>
          </a:p>
        </p:txBody>
      </p:sp>
      <p:sp>
        <p:nvSpPr>
          <p:cNvPr id="55" name="Text 53"/>
          <p:cNvSpPr/>
          <p:nvPr/>
        </p:nvSpPr>
        <p:spPr>
          <a:xfrm>
            <a:off x="1463040" y="4288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 y asigna</a:t>
            </a:r>
            <a:endParaRPr lang="en-US" sz="1200"/>
          </a:p>
        </p:txBody>
      </p:sp>
      <p:sp>
        <p:nvSpPr>
          <p:cNvPr id="56" name="Text 54"/>
          <p:cNvSpPr/>
          <p:nvPr/>
        </p:nvSpPr>
        <p:spPr>
          <a:xfrm>
            <a:off x="4206240" y="42885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 .= "!"</a:t>
            </a:r>
            <a:endParaRPr lang="en-US" sz="1200"/>
          </a:p>
        </p:txBody>
      </p:sp>
      <p:sp>
        <p:nvSpPr>
          <p:cNvPr id="57" name="Text 55"/>
          <p:cNvSpPr/>
          <p:nvPr/>
        </p:nvSpPr>
        <p:spPr>
          <a:xfrm>
            <a:off x="6309360" y="4288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 = $s . "!"</a:t>
            </a:r>
            <a:endParaRPr lang="en-US" sz="1200"/>
          </a:p>
        </p:txBody>
      </p:sp>
      <p:sp>
        <p:nvSpPr>
          <p:cNvPr id="58" name="Shape 56"/>
          <p:cNvSpPr/>
          <p:nvPr/>
        </p:nvSpPr>
        <p:spPr>
          <a:xfrm>
            <a:off x="457200" y="4608576"/>
            <a:ext cx="8229600" cy="32004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7200" y="4608576"/>
            <a:ext cx="54864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4626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**=</a:t>
            </a:r>
            <a:endParaRPr lang="en-US" sz="1300"/>
          </a:p>
        </p:txBody>
      </p:sp>
      <p:sp>
        <p:nvSpPr>
          <p:cNvPr id="61" name="Text 59"/>
          <p:cNvSpPr/>
          <p:nvPr/>
        </p:nvSpPr>
        <p:spPr>
          <a:xfrm>
            <a:off x="1463040" y="46268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Exponente y asigna</a:t>
            </a:r>
            <a:endParaRPr lang="en-US" sz="1200"/>
          </a:p>
        </p:txBody>
      </p:sp>
      <p:sp>
        <p:nvSpPr>
          <p:cNvPr id="62" name="Text 60"/>
          <p:cNvSpPr/>
          <p:nvPr/>
        </p:nvSpPr>
        <p:spPr>
          <a:xfrm>
            <a:off x="4206240" y="46268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**= 3</a:t>
            </a:r>
            <a:endParaRPr lang="en-US" sz="1200"/>
          </a:p>
        </p:txBody>
      </p:sp>
      <p:sp>
        <p:nvSpPr>
          <p:cNvPr id="63" name="Text 61"/>
          <p:cNvSpPr/>
          <p:nvPr/>
        </p:nvSpPr>
        <p:spPr>
          <a:xfrm>
            <a:off x="6309360" y="4626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$a = $a ** 3</a:t>
            </a:r>
            <a:endParaRPr lang="en-US" sz="1200"/>
          </a:p>
        </p:txBody>
      </p:sp>
      <p:sp>
        <p:nvSpPr>
          <p:cNvPr id="64" name="Shape 6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Operadores de Comparación</a:t>
            </a:r>
            <a:endParaRPr lang="en-US" sz="29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416052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82296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786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1280160" y="112471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Igualdad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1280160" y="140817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valor (sin importar tipo)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1280160" y="162763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 "5"  → true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365760" y="2020824"/>
            <a:ext cx="416052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20824"/>
            <a:ext cx="82296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020824"/>
            <a:ext cx="786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</a:t>
            </a:r>
            <a:endParaRPr lang="en-US" sz="1600"/>
          </a:p>
        </p:txBody>
      </p:sp>
      <p:sp>
        <p:nvSpPr>
          <p:cNvPr id="14" name="Text 12"/>
          <p:cNvSpPr/>
          <p:nvPr/>
        </p:nvSpPr>
        <p:spPr>
          <a:xfrm>
            <a:off x="1280160" y="206654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1280160" y="235000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valor Y mismo tipo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1280160" y="256946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=== "5" → false</a:t>
            </a:r>
            <a:endParaRPr lang="en-US" sz="1100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416052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62656"/>
            <a:ext cx="82296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962656"/>
            <a:ext cx="786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1280160" y="300837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1280160" y="329184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distintos</a:t>
            </a:r>
            <a:endParaRPr lang="en-US" sz="1150"/>
          </a:p>
        </p:txBody>
      </p:sp>
      <p:sp>
        <p:nvSpPr>
          <p:cNvPr id="22" name="Text 20"/>
          <p:cNvSpPr/>
          <p:nvPr/>
        </p:nvSpPr>
        <p:spPr>
          <a:xfrm>
            <a:off x="1280160" y="3511296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 3   → true</a:t>
            </a:r>
            <a:endParaRPr lang="en-US" sz="1100"/>
          </a:p>
        </p:txBody>
      </p:sp>
      <p:sp>
        <p:nvSpPr>
          <p:cNvPr id="23" name="Shape 21"/>
          <p:cNvSpPr/>
          <p:nvPr/>
        </p:nvSpPr>
        <p:spPr>
          <a:xfrm>
            <a:off x="365760" y="3904488"/>
            <a:ext cx="416052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04488"/>
            <a:ext cx="822960" cy="80467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904488"/>
            <a:ext cx="786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!==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1280160" y="39502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 estricta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1280160" y="423367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 en valor O tipo</a:t>
            </a:r>
            <a:endParaRPr lang="en-US" sz="1150"/>
          </a:p>
        </p:txBody>
      </p:sp>
      <p:sp>
        <p:nvSpPr>
          <p:cNvPr id="28" name="Text 26"/>
          <p:cNvSpPr/>
          <p:nvPr/>
        </p:nvSpPr>
        <p:spPr>
          <a:xfrm>
            <a:off x="1280160" y="44531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!== "5"→ true</a:t>
            </a:r>
            <a:endParaRPr lang="en-US" sz="1100"/>
          </a:p>
        </p:txBody>
      </p:sp>
      <p:sp>
        <p:nvSpPr>
          <p:cNvPr id="29" name="Shape 27"/>
          <p:cNvSpPr/>
          <p:nvPr/>
        </p:nvSpPr>
        <p:spPr>
          <a:xfrm>
            <a:off x="4773168" y="1078992"/>
            <a:ext cx="416052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1078992"/>
            <a:ext cx="822960" cy="8046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1078992"/>
            <a:ext cx="786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1600"/>
          </a:p>
        </p:txBody>
      </p:sp>
      <p:sp>
        <p:nvSpPr>
          <p:cNvPr id="32" name="Text 30"/>
          <p:cNvSpPr/>
          <p:nvPr/>
        </p:nvSpPr>
        <p:spPr>
          <a:xfrm>
            <a:off x="5687568" y="1124712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que</a:t>
            </a:r>
            <a:endParaRPr lang="en-US" sz="1300"/>
          </a:p>
        </p:txBody>
      </p:sp>
      <p:sp>
        <p:nvSpPr>
          <p:cNvPr id="33" name="Text 31"/>
          <p:cNvSpPr/>
          <p:nvPr/>
        </p:nvSpPr>
        <p:spPr>
          <a:xfrm>
            <a:off x="5687568" y="1408176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mayor que derecha</a:t>
            </a:r>
            <a:endParaRPr lang="en-US" sz="1150"/>
          </a:p>
        </p:txBody>
      </p:sp>
      <p:sp>
        <p:nvSpPr>
          <p:cNvPr id="34" name="Text 32"/>
          <p:cNvSpPr/>
          <p:nvPr/>
        </p:nvSpPr>
        <p:spPr>
          <a:xfrm>
            <a:off x="5687568" y="162763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&gt; 3    → true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4773168" y="2020824"/>
            <a:ext cx="416052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2020824"/>
            <a:ext cx="822960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2020824"/>
            <a:ext cx="786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1600"/>
          </a:p>
        </p:txBody>
      </p:sp>
      <p:sp>
        <p:nvSpPr>
          <p:cNvPr id="38" name="Text 36"/>
          <p:cNvSpPr/>
          <p:nvPr/>
        </p:nvSpPr>
        <p:spPr>
          <a:xfrm>
            <a:off x="5687568" y="2066544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que</a:t>
            </a:r>
            <a:endParaRPr lang="en-US" sz="1300"/>
          </a:p>
        </p:txBody>
      </p:sp>
      <p:sp>
        <p:nvSpPr>
          <p:cNvPr id="39" name="Text 37"/>
          <p:cNvSpPr/>
          <p:nvPr/>
        </p:nvSpPr>
        <p:spPr>
          <a:xfrm>
            <a:off x="5687568" y="235000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menor que derecha</a:t>
            </a:r>
            <a:endParaRPr lang="en-US" sz="1150"/>
          </a:p>
        </p:txBody>
      </p:sp>
      <p:sp>
        <p:nvSpPr>
          <p:cNvPr id="40" name="Text 38"/>
          <p:cNvSpPr/>
          <p:nvPr/>
        </p:nvSpPr>
        <p:spPr>
          <a:xfrm>
            <a:off x="5687568" y="2569464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&lt; 5    → true</a:t>
            </a:r>
            <a:endParaRPr lang="en-US" sz="1100"/>
          </a:p>
        </p:txBody>
      </p:sp>
      <p:sp>
        <p:nvSpPr>
          <p:cNvPr id="41" name="Shape 39"/>
          <p:cNvSpPr/>
          <p:nvPr/>
        </p:nvSpPr>
        <p:spPr>
          <a:xfrm>
            <a:off x="4773168" y="2962656"/>
            <a:ext cx="416052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3168" y="2962656"/>
            <a:ext cx="822960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91456" y="2962656"/>
            <a:ext cx="786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1600"/>
          </a:p>
        </p:txBody>
      </p:sp>
      <p:sp>
        <p:nvSpPr>
          <p:cNvPr id="44" name="Text 42"/>
          <p:cNvSpPr/>
          <p:nvPr/>
        </p:nvSpPr>
        <p:spPr>
          <a:xfrm>
            <a:off x="5687568" y="3008376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o igual</a:t>
            </a:r>
            <a:endParaRPr lang="en-US" sz="1300"/>
          </a:p>
        </p:txBody>
      </p:sp>
      <p:sp>
        <p:nvSpPr>
          <p:cNvPr id="45" name="Text 43"/>
          <p:cNvSpPr/>
          <p:nvPr/>
        </p:nvSpPr>
        <p:spPr>
          <a:xfrm>
            <a:off x="5687568" y="3291840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Izquierda ≥ derecha</a:t>
            </a:r>
            <a:endParaRPr lang="en-US" sz="1150"/>
          </a:p>
        </p:txBody>
      </p:sp>
      <p:sp>
        <p:nvSpPr>
          <p:cNvPr id="46" name="Text 44"/>
          <p:cNvSpPr/>
          <p:nvPr/>
        </p:nvSpPr>
        <p:spPr>
          <a:xfrm>
            <a:off x="5687568" y="3511296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&gt;= 5   → true</a:t>
            </a:r>
            <a:endParaRPr lang="en-US" sz="1100"/>
          </a:p>
        </p:txBody>
      </p:sp>
      <p:sp>
        <p:nvSpPr>
          <p:cNvPr id="47" name="Shape 45"/>
          <p:cNvSpPr/>
          <p:nvPr/>
        </p:nvSpPr>
        <p:spPr>
          <a:xfrm>
            <a:off x="4773168" y="3904488"/>
            <a:ext cx="4160520" cy="80467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73168" y="3904488"/>
            <a:ext cx="822960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91456" y="3904488"/>
            <a:ext cx="78638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&lt;=&gt;</a:t>
            </a:r>
            <a:endParaRPr lang="en-US" sz="1600"/>
          </a:p>
        </p:txBody>
      </p:sp>
      <p:sp>
        <p:nvSpPr>
          <p:cNvPr id="50" name="Text 48"/>
          <p:cNvSpPr/>
          <p:nvPr/>
        </p:nvSpPr>
        <p:spPr>
          <a:xfrm>
            <a:off x="5687568" y="395020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 espacial</a:t>
            </a:r>
            <a:endParaRPr lang="en-US" sz="1300"/>
          </a:p>
        </p:txBody>
      </p:sp>
      <p:sp>
        <p:nvSpPr>
          <p:cNvPr id="51" name="Text 49"/>
          <p:cNvSpPr/>
          <p:nvPr/>
        </p:nvSpPr>
        <p:spPr>
          <a:xfrm>
            <a:off x="5687568" y="4233672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 / 0 / 1 según comparación</a:t>
            </a:r>
            <a:endParaRPr lang="en-US" sz="1150"/>
          </a:p>
        </p:txBody>
      </p:sp>
      <p:sp>
        <p:nvSpPr>
          <p:cNvPr id="52" name="Text 50"/>
          <p:cNvSpPr/>
          <p:nvPr/>
        </p:nvSpPr>
        <p:spPr>
          <a:xfrm>
            <a:off x="5687568" y="4453128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&lt;=&gt; 3  → 1</a:t>
            </a:r>
            <a:endParaRPr lang="en-US" sz="1100"/>
          </a:p>
        </p:txBody>
      </p:sp>
      <p:sp>
        <p:nvSpPr>
          <p:cNvPr id="53" name="Shape 51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Operadores Lógicos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1947672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1947672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06070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800"/>
          </a:p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(&amp;&amp;)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si AMBOS operandos son verdaderos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29768" y="2834640"/>
            <a:ext cx="1819656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871216"/>
            <a:ext cx="1728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false  → false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&amp;&amp; true   → true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2487168" y="1051560"/>
            <a:ext cx="1947672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87168" y="1051560"/>
            <a:ext cx="1947672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06070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800"/>
          </a:p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(||)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2578608" y="1764792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si AL MENOS UNO es verdadero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2551176" y="2834640"/>
            <a:ext cx="1819656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96896" y="2871216"/>
            <a:ext cx="1728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|| false  → true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false|| false  → false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4608576" y="1051560"/>
            <a:ext cx="1947672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8576" y="1051560"/>
            <a:ext cx="1947672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45152" y="106070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800"/>
          </a:p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(!)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4700016" y="1764792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Invierte el valor lógico del operando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4672584" y="2834640"/>
            <a:ext cx="1819656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2871216"/>
            <a:ext cx="1728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!(true)  → false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!(false) → true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729984" y="1051560"/>
            <a:ext cx="1947672" cy="3520440"/>
          </a:xfrm>
          <a:prstGeom prst="rect">
            <a:avLst/>
          </a:prstGeom>
          <a:solidFill>
            <a:srgbClr val="1E2A3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9984" y="1051560"/>
            <a:ext cx="1947672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060704"/>
            <a:ext cx="1874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XOR</a:t>
            </a:r>
            <a:endParaRPr lang="en-US" sz="1800"/>
          </a:p>
        </p:txBody>
      </p:sp>
      <p:sp>
        <p:nvSpPr>
          <p:cNvPr id="26" name="Text 24"/>
          <p:cNvSpPr/>
          <p:nvPr/>
        </p:nvSpPr>
        <p:spPr>
          <a:xfrm>
            <a:off x="6821424" y="1764792"/>
            <a:ext cx="1764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 si UNO Y SOLO UNO es verdadero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6793992" y="2834640"/>
            <a:ext cx="1819656" cy="7498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2871216"/>
            <a:ext cx="172821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xor false → true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xor true  → false</a:t>
            </a:r>
            <a:endParaRPr lang="en-US" sz="1050"/>
          </a:p>
        </p:txBody>
      </p:sp>
      <p:sp>
        <p:nvSpPr>
          <p:cNvPr id="29" name="Shape 27"/>
          <p:cNvSpPr/>
          <p:nvPr/>
        </p:nvSpPr>
        <p:spPr>
          <a:xfrm>
            <a:off x="457200" y="4636008"/>
            <a:ext cx="8229600" cy="246888"/>
          </a:xfrm>
          <a:prstGeom prst="rect">
            <a:avLst/>
          </a:prstGeom>
          <a:solidFill>
            <a:srgbClr val="0F172A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645152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&amp;&amp; y || tienen mayor precedencia que and y or. Se recomienda usar &amp;&amp; y || en el código.</a:t>
            </a:r>
            <a:endParaRPr lang="en-US" sz="1100"/>
          </a:p>
        </p:txBody>
      </p:sp>
      <p:sp>
        <p:nvSpPr>
          <p:cNvPr id="31" name="Shape 2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Funciones en PHP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8229600" cy="713232"/>
          </a:xfrm>
          <a:prstGeom prst="rect">
            <a:avLst/>
          </a:prstGeom>
          <a:solidFill>
            <a:srgbClr val="1E2A3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9728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función es un bloque de código reutilizable que realiza una tarea específica. Se define una vez y se puede llamar múltiples veces.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sin parámetros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457200" y="2304288"/>
            <a:ext cx="393192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359152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/>
                <a:ea typeface="Consolas" pitchFamily="34" charset="-122"/>
                <a:cs typeface="Consolas" pitchFamily="34" charset="-120"/>
              </a:rPr>
              <a:t>function </a:t>
            </a:r>
            <a:r>
              <a:rPr lang="en-US" sz="1200" err="1">
                <a:solidFill>
                  <a:srgbClr val="7DD3FC"/>
                </a:solidFill>
                <a:latin typeface="Consolas"/>
                <a:ea typeface="Consolas" pitchFamily="34" charset="-122"/>
                <a:cs typeface="Consolas" pitchFamily="34" charset="-120"/>
              </a:rPr>
              <a:t>saludar() {</a:t>
            </a:r>
            <a:r>
              <a:rPr lang="en-US" sz="1200">
                <a:solidFill>
                  <a:srgbClr val="7DD3FC"/>
                </a:solidFill>
                <a:latin typeface="Consolas"/>
                <a:ea typeface="Consolas" pitchFamily="34" charset="-122"/>
                <a:cs typeface="Consolas" pitchFamily="34" charset="-120"/>
              </a:rPr>
              <a:t>
    echo "¡Hola, </a:t>
            </a:r>
            <a:r>
              <a:rPr lang="en-US" sz="1200" err="1">
                <a:solidFill>
                  <a:srgbClr val="7DD3FC"/>
                </a:solidFill>
                <a:latin typeface="Consolas"/>
                <a:ea typeface="Consolas" pitchFamily="34" charset="-122"/>
                <a:cs typeface="Consolas" pitchFamily="34" charset="-120"/>
              </a:rPr>
              <a:t>mundo!";</a:t>
            </a:r>
            <a:r>
              <a:rPr lang="en-US" sz="1200">
                <a:solidFill>
                  <a:srgbClr val="7DD3FC"/>
                </a:solidFill>
                <a:latin typeface="Consolas"/>
                <a:ea typeface="Consolas" pitchFamily="34" charset="-122"/>
                <a:cs typeface="Consolas" pitchFamily="34" charset="-120"/>
              </a:rPr>
              <a:t>
}
</a:t>
            </a:r>
            <a:r>
              <a:rPr lang="en-US" sz="1200" err="1">
                <a:solidFill>
                  <a:srgbClr val="94A3B8"/>
                </a:solidFill>
                <a:latin typeface="Consolas"/>
                <a:ea typeface="Consolas" pitchFamily="34" charset="-122"/>
                <a:cs typeface="Consolas" pitchFamily="34" charset="-120"/>
              </a:rPr>
              <a:t>saludar</a:t>
            </a:r>
            <a:r>
              <a:rPr lang="en-US" sz="1200">
                <a:solidFill>
                  <a:srgbClr val="94A3B8"/>
                </a:solidFill>
                <a:latin typeface="Consolas"/>
                <a:ea typeface="Consolas" pitchFamily="34" charset="-122"/>
                <a:cs typeface="Consolas" pitchFamily="34" charset="-120"/>
              </a:rPr>
              <a:t>(); // </a:t>
            </a:r>
            <a:r>
              <a:rPr lang="en-US" sz="1200" err="1">
                <a:solidFill>
                  <a:srgbClr val="94A3B8"/>
                </a:solidFill>
                <a:latin typeface="Consolas"/>
                <a:ea typeface="Consolas" pitchFamily="34" charset="-122"/>
                <a:cs typeface="Consolas" pitchFamily="34" charset="-120"/>
              </a:rPr>
              <a:t>Llamada</a:t>
            </a:r>
            <a:r>
              <a:rPr lang="en-US" sz="12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1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|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754880" y="19202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 parámetros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4754880" y="2304288"/>
            <a:ext cx="393192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359152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sumar($a, $b) {
</a:t>
            </a:r>
            <a:r>
              <a:rPr lang="en-US" sz="120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$a + $b;
</a:t>
            </a: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
$res = sumar(5, 3);
</a:t>
            </a:r>
            <a:r>
              <a:rPr lang="en-US" sz="12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$res; // 8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57200" y="3703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con valor por defecto</a:t>
            </a:r>
            <a:endParaRPr lang="en-US" sz="1600"/>
          </a:p>
        </p:txBody>
      </p:sp>
      <p:sp>
        <p:nvSpPr>
          <p:cNvPr id="15" name="Shape 13"/>
          <p:cNvSpPr/>
          <p:nvPr/>
        </p:nvSpPr>
        <p:spPr>
          <a:xfrm>
            <a:off x="457200" y="4087368"/>
            <a:ext cx="393192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12394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saludar($nombre = "mundo") {
    echo "Hola, " . $nombre; }
</a:t>
            </a:r>
            <a:endParaRPr lang="en-US" sz="1150"/>
          </a:p>
        </p:txBody>
      </p:sp>
      <p:sp>
        <p:nvSpPr>
          <p:cNvPr id="17" name="Text 15"/>
          <p:cNvSpPr/>
          <p:nvPr/>
        </p:nvSpPr>
        <p:spPr>
          <a:xfrm>
            <a:off x="4754880" y="37033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 tipo de retorno</a:t>
            </a:r>
            <a:endParaRPr lang="en-US" sz="1600"/>
          </a:p>
        </p:txBody>
      </p:sp>
      <p:sp>
        <p:nvSpPr>
          <p:cNvPr id="18" name="Shape 16"/>
          <p:cNvSpPr/>
          <p:nvPr/>
        </p:nvSpPr>
        <p:spPr>
          <a:xfrm>
            <a:off x="4754880" y="4087368"/>
            <a:ext cx="393192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4123944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multiplicar(int $a, int $b): int {
    return $a * $b; }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Sintaxis Básica de PHP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8229600" cy="3657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78992"/>
            <a:ext cx="4160520" cy="1719072"/>
          </a:xfrm>
          <a:prstGeom prst="rect">
            <a:avLst/>
          </a:prstGeom>
          <a:solidFill>
            <a:srgbClr val="1E2A3A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78992"/>
            <a:ext cx="41605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972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PHP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457200" y="1490472"/>
            <a:ext cx="397764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536192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tu código aquí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?&gt;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773168" y="1078992"/>
            <a:ext cx="4160520" cy="1719072"/>
          </a:xfrm>
          <a:prstGeom prst="rect">
            <a:avLst/>
          </a:prstGeom>
          <a:solidFill>
            <a:srgbClr val="1E2A3A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078992"/>
            <a:ext cx="416052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9728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($)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4864608" y="1490472"/>
            <a:ext cx="397764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1536192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"Juan";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$edad   = 20;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$precio = 9.99;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365760" y="2953512"/>
            <a:ext cx="4160520" cy="1719072"/>
          </a:xfrm>
          <a:prstGeom prst="rect">
            <a:avLst/>
          </a:prstGeom>
          <a:solidFill>
            <a:srgbClr val="1E2A3A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53512"/>
            <a:ext cx="4160520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97180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y coma (;)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97764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10712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"Hola";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$x = 5 + 3;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print($x);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4773168" y="2953512"/>
            <a:ext cx="4160520" cy="1719072"/>
          </a:xfrm>
          <a:prstGeom prst="rect">
            <a:avLst/>
          </a:prstGeom>
          <a:solidFill>
            <a:srgbClr val="1E2A3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2953512"/>
            <a:ext cx="41605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971800"/>
            <a:ext cx="4014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Comentarios</a:t>
            </a:r>
            <a:endParaRPr lang="en-US" sz="1500"/>
          </a:p>
        </p:txBody>
      </p:sp>
      <p:sp>
        <p:nvSpPr>
          <p:cNvPr id="23" name="Shape 21"/>
          <p:cNvSpPr/>
          <p:nvPr/>
        </p:nvSpPr>
        <p:spPr>
          <a:xfrm>
            <a:off x="4864608" y="3364992"/>
            <a:ext cx="3977640" cy="12070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74336" y="3410712"/>
            <a:ext cx="37947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Comentario de línea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Bloque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multi-línea */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Estilo shell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4A3B8"/>
                </a:solidFill>
              </a:rPr>
              <a:t>PHP Básico  •  Mag. Tomás Calderón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182880"/>
            <a:ext cx="1463040" cy="146304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1097280"/>
            <a:ext cx="914400" cy="914400"/>
          </a:xfrm>
          <a:prstGeom prst="rect">
            <a:avLst/>
          </a:prstGeom>
          <a:solidFill>
            <a:srgbClr val="06B6D4">
              <a:alpha val="30000"/>
            </a:srgbClr>
          </a:solidFill>
          <a:ln w="12700">
            <a:solidFill>
              <a:srgbClr val="06B6D4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486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6675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¡Lo aprendido hoy!</a:t>
            </a:r>
            <a:endParaRPr lang="en-US" sz="400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2004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75104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9385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e historia de PHP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640080" y="2322576"/>
            <a:ext cx="20116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286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PHP? Concepto y características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40080" y="2670048"/>
            <a:ext cx="2011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334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PHP/FI → PHP 8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9809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 XAMPP (Apache + PHP + MySQL)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201168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3284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Salida: echo, print, printf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640080" y="3712464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6758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escalares: int, float, string, bool</a:t>
            </a:r>
            <a:endParaRPr lang="en-US" sz="1150"/>
          </a:p>
        </p:txBody>
      </p:sp>
      <p:sp>
        <p:nvSpPr>
          <p:cNvPr id="20" name="Shape 18"/>
          <p:cNvSpPr/>
          <p:nvPr/>
        </p:nvSpPr>
        <p:spPr>
          <a:xfrm>
            <a:off x="5074920" y="1975104"/>
            <a:ext cx="20116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0" y="193852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compuestos: array, object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5074920" y="2322576"/>
            <a:ext cx="2011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22860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Conversión automática y explícita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5074920" y="2670048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263347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Constantes: define() y const</a:t>
            </a:r>
            <a:endParaRPr lang="en-US" sz="1150"/>
          </a:p>
        </p:txBody>
      </p:sp>
      <p:sp>
        <p:nvSpPr>
          <p:cNvPr id="26" name="Shape 24"/>
          <p:cNvSpPr/>
          <p:nvPr/>
        </p:nvSpPr>
        <p:spPr>
          <a:xfrm>
            <a:off x="5074920" y="3017520"/>
            <a:ext cx="201168" cy="20116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298094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Operadores: ariméticos, asignación, comparación, lógicos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5074920" y="3364992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332841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Funciones: definición, parámetros, retorno</a:t>
            </a:r>
            <a:endParaRPr lang="en-US" sz="1150"/>
          </a:p>
        </p:txBody>
      </p:sp>
      <p:sp>
        <p:nvSpPr>
          <p:cNvPr id="30" name="Shape 28"/>
          <p:cNvSpPr/>
          <p:nvPr/>
        </p:nvSpPr>
        <p:spPr>
          <a:xfrm>
            <a:off x="5074920" y="3712464"/>
            <a:ext cx="201168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367588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Sintaxis básica de PHP</a:t>
            </a:r>
            <a:endParaRPr lang="en-US" sz="1150"/>
          </a:p>
        </p:txBody>
      </p:sp>
      <p:sp>
        <p:nvSpPr>
          <p:cNvPr id="32" name="Text 30"/>
          <p:cNvSpPr/>
          <p:nvPr/>
        </p:nvSpPr>
        <p:spPr>
          <a:xfrm>
            <a:off x="640080" y="48006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Mag. Tomás Calderón  •  PHP Básico  •  Universidad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77a641c-123d-4d79-b272-d60a57294ef7" xsi:nil="true"/>
    <lcf76f155ced4ddcb4097134ff3c332f xmlns="5e8f54ad-ddc9-466e-becb-47ddc0d2abd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57F1D7237E895408E1CDC5B8278107B" ma:contentTypeVersion="10" ma:contentTypeDescription="Crear nuevo documento." ma:contentTypeScope="" ma:versionID="fde09fbaab07680dfa4d1568911e4787">
  <xsd:schema xmlns:xsd="http://www.w3.org/2001/XMLSchema" xmlns:xs="http://www.w3.org/2001/XMLSchema" xmlns:p="http://schemas.microsoft.com/office/2006/metadata/properties" xmlns:ns2="5e8f54ad-ddc9-466e-becb-47ddc0d2abde" xmlns:ns3="277a641c-123d-4d79-b272-d60a57294ef7" targetNamespace="http://schemas.microsoft.com/office/2006/metadata/properties" ma:root="true" ma:fieldsID="badd5f2953129ad013da0d7b8ca2ba47" ns2:_="" ns3:_="">
    <xsd:import namespace="5e8f54ad-ddc9-466e-becb-47ddc0d2abde"/>
    <xsd:import namespace="277a641c-123d-4d79-b272-d60a57294ef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8f54ad-ddc9-466e-becb-47ddc0d2ab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1348c8ee-fc48-4349-a3df-b5c7dc9d70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7a641c-123d-4d79-b272-d60a57294ef7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2ea4cb33-8525-461c-aebb-08aee7e5a9a5}" ma:internalName="TaxCatchAll" ma:showField="CatchAllData" ma:web="277a641c-123d-4d79-b272-d60a57294ef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ED048AD-77B3-41FD-8BBC-DF4C8A02F3A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22965C2-704D-41D9-B722-DC91BA844917}"/>
</file>

<file path=customXml/itemProps3.xml><?xml version="1.0" encoding="utf-8"?>
<ds:datastoreItem xmlns:ds="http://schemas.openxmlformats.org/officeDocument/2006/customXml" ds:itemID="{DA3BEA3A-FB8E-46B7-B4A2-60DC6D6C65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Presentación en pantalla (16:9)</PresentationFormat>
  <Slides>20</Slides>
  <Notes>20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1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Básico</dc:title>
  <dc:subject>PptxGenJS Presentation</dc:subject>
  <dc:creator>PptxGenJS</dc:creator>
  <cp:revision>4</cp:revision>
  <dcterms:created xsi:type="dcterms:W3CDTF">2026-03-10T16:21:29Z</dcterms:created>
  <dcterms:modified xsi:type="dcterms:W3CDTF">2026-04-08T17:38:17Z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0x010100557F1D7237E895408E1CDC5B8278107B</vt:lpwstr>
  </property>
</Properties>
</file>