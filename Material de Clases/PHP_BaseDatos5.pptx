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1" r:id="rId9"/>
    <p:sldId id="26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4434E-B579-268C-F3E3-84C263515F92}" v="3" dt="2026-04-25T02:39:05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AR NAVAS" userId="S::omar.navas@utp.ac.pa::46200e24-38ae-4e8e-8c84-28444311c63d" providerId="AD" clId="Web-{A744434E-B579-268C-F3E3-84C263515F92}"/>
    <pc:docChg chg="modSld">
      <pc:chgData name="OMAR NAVAS" userId="S::omar.navas@utp.ac.pa::46200e24-38ae-4e8e-8c84-28444311c63d" providerId="AD" clId="Web-{A744434E-B579-268C-F3E3-84C263515F92}" dt="2026-04-25T02:39:05.877" v="2" actId="1076"/>
      <pc:docMkLst>
        <pc:docMk/>
      </pc:docMkLst>
      <pc:sldChg chg="modSp">
        <pc:chgData name="OMAR NAVAS" userId="S::omar.navas@utp.ac.pa::46200e24-38ae-4e8e-8c84-28444311c63d" providerId="AD" clId="Web-{A744434E-B579-268C-F3E3-84C263515F92}" dt="2026-04-25T02:39:05.877" v="2" actId="1076"/>
        <pc:sldMkLst>
          <pc:docMk/>
          <pc:sldMk cId="0" sldId="258"/>
        </pc:sldMkLst>
        <pc:spChg chg="mod">
          <ac:chgData name="OMAR NAVAS" userId="S::omar.navas@utp.ac.pa::46200e24-38ae-4e8e-8c84-28444311c63d" providerId="AD" clId="Web-{A744434E-B579-268C-F3E3-84C263515F92}" dt="2026-04-25T02:39:05.877" v="2" actId="1076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OMAR NAVAS" userId="S::omar.navas@utp.ac.pa::46200e24-38ae-4e8e-8c84-28444311c63d" providerId="AD" clId="Web-{A744434E-B579-268C-F3E3-84C263515F92}" dt="2026-04-25T02:19:52.846" v="0" actId="1076"/>
        <pc:sldMkLst>
          <pc:docMk/>
          <pc:sldMk cId="0" sldId="264"/>
        </pc:sldMkLst>
        <pc:spChg chg="mod">
          <ac:chgData name="OMAR NAVAS" userId="S::omar.navas@utp.ac.pa::46200e24-38ae-4e8e-8c84-28444311c63d" providerId="AD" clId="Web-{A744434E-B579-268C-F3E3-84C263515F92}" dt="2026-04-25T02:19:52.846" v="0" actId="1076"/>
          <ac:spMkLst>
            <pc:docMk/>
            <pc:sldMk cId="0" sldId="264"/>
            <ac:spMk id="13" creationId="{00000000-0000-0000-0000-000000000000}"/>
          </ac:spMkLst>
        </pc:spChg>
      </pc:sldChg>
    </pc:docChg>
  </pc:docChgLst>
  <pc:docChgLst>
    <pc:chgData name="JOSE CANTO" userId="S::jose.canto6@utp.ac.pa::86e9872a-6b56-4657-a92d-d928e29b8dd6" providerId="AD" clId="Web-{870D3378-8353-AA25-838E-70CA534C92A0}"/>
    <pc:docChg chg="sldOrd">
      <pc:chgData name="JOSE CANTO" userId="S::jose.canto6@utp.ac.pa::86e9872a-6b56-4657-a92d-d928e29b8dd6" providerId="AD" clId="Web-{870D3378-8353-AA25-838E-70CA534C92A0}" dt="2026-04-23T01:51:12.793" v="0"/>
      <pc:docMkLst>
        <pc:docMk/>
      </pc:docMkLst>
      <pc:sldChg chg="ord">
        <pc:chgData name="JOSE CANTO" userId="S::jose.canto6@utp.ac.pa::86e9872a-6b56-4657-a92d-d928e29b8dd6" providerId="AD" clId="Web-{870D3378-8353-AA25-838E-70CA534C92A0}" dt="2026-04-23T01:51:12.793" v="0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5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9144000" cy="9144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16736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55648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33472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72384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11296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0208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66944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05856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2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61504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0416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9328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17152" y="0"/>
            <a:ext cx="9144" cy="5143500"/>
          </a:xfrm>
          <a:prstGeom prst="rect">
            <a:avLst/>
          </a:prstGeom>
          <a:solidFill>
            <a:srgbClr val="39FF14">
              <a:alpha val="8000"/>
            </a:srgbClr>
          </a:solidFill>
          <a:ln w="12700">
            <a:solidFill>
              <a:srgbClr val="39FF14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57200"/>
            <a:ext cx="4114800" cy="457200"/>
          </a:xfrm>
          <a:prstGeom prst="rect">
            <a:avLst/>
          </a:prstGeom>
          <a:solidFill>
            <a:srgbClr val="0D1A0F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02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</a:t>
            </a:r>
            <a:r>
              <a:rPr lang="en-US" sz="14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base_datos.php</a:t>
            </a:r>
            <a:r>
              <a:rPr lang="en-US" sz="140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▌</a:t>
            </a:r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685800" y="11155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datos</a:t>
            </a:r>
            <a:endParaRPr lang="en-US" sz="5800"/>
          </a:p>
        </p:txBody>
      </p:sp>
      <p:sp>
        <p:nvSpPr>
          <p:cNvPr id="40" name="Text 38"/>
          <p:cNvSpPr/>
          <p:nvPr/>
        </p:nvSpPr>
        <p:spPr>
          <a:xfrm>
            <a:off x="685800" y="199339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PHP</a:t>
            </a:r>
            <a:endParaRPr lang="en-US" sz="5800"/>
          </a:p>
        </p:txBody>
      </p:sp>
      <p:sp>
        <p:nvSpPr>
          <p:cNvPr id="41" name="Text 39"/>
          <p:cNvSpPr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  •  SELECT  •  INSERT  •  UPDATE  •  DELETE  •  Stored Procedures</a:t>
            </a:r>
            <a:endParaRPr lang="en-US" sz="1300"/>
          </a:p>
        </p:txBody>
      </p:sp>
      <p:sp>
        <p:nvSpPr>
          <p:cNvPr id="42" name="Shape 40"/>
          <p:cNvSpPr/>
          <p:nvPr/>
        </p:nvSpPr>
        <p:spPr>
          <a:xfrm>
            <a:off x="685800" y="3410712"/>
            <a:ext cx="4114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5844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Mag. Tomás Calderón</a:t>
            </a:r>
            <a:endParaRPr lang="en-US" sz="1400"/>
          </a:p>
        </p:txBody>
      </p:sp>
      <p:sp>
        <p:nvSpPr>
          <p:cNvPr id="44" name="Text 42"/>
          <p:cNvSpPr/>
          <p:nvPr/>
        </p:nvSpPr>
        <p:spPr>
          <a:xfrm>
            <a:off x="6858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</a:t>
            </a:r>
            <a:r>
              <a:rPr lang="en-US" sz="120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Panamá  •  </a:t>
            </a:r>
            <a:r>
              <a:rPr lang="en-US" sz="1200" err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Software VII</a:t>
            </a:r>
            <a:endParaRPr lang="en-US" sz="1200"/>
          </a:p>
        </p:txBody>
      </p:sp>
      <p:sp>
        <p:nvSpPr>
          <p:cNvPr id="45" name="Shape 43"/>
          <p:cNvSpPr/>
          <p:nvPr/>
        </p:nvSpPr>
        <p:spPr>
          <a:xfrm>
            <a:off x="6583680" y="1371600"/>
            <a:ext cx="2011680" cy="548640"/>
          </a:xfrm>
          <a:prstGeom prst="ellipse">
            <a:avLst/>
          </a:prstGeom>
          <a:solidFill>
            <a:srgbClr val="39FF14">
              <a:alpha val="30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83680" y="1627632"/>
            <a:ext cx="2011680" cy="2011680"/>
          </a:xfrm>
          <a:prstGeom prst="rect">
            <a:avLst/>
          </a:prstGeom>
          <a:solidFill>
            <a:srgbClr val="39FF14">
              <a:alpha val="12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0" y="3364992"/>
            <a:ext cx="2011680" cy="548640"/>
          </a:xfrm>
          <a:prstGeom prst="ellipse">
            <a:avLst/>
          </a:prstGeom>
          <a:solidFill>
            <a:srgbClr val="39FF14">
              <a:alpha val="30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2240280"/>
            <a:ext cx="2011680" cy="457200"/>
          </a:xfrm>
          <a:prstGeom prst="ellipse">
            <a:avLst/>
          </a:prstGeom>
          <a:solidFill>
            <a:srgbClr val="39FF14">
              <a:alpha val="2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83680" y="2743200"/>
            <a:ext cx="2011680" cy="457200"/>
          </a:xfrm>
          <a:prstGeom prst="ellipse">
            <a:avLst/>
          </a:prstGeom>
          <a:solidFill>
            <a:srgbClr val="39FF14">
              <a:alpha val="2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</a:t>
            </a:r>
            <a:endParaRPr 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PDO?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24302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97280"/>
            <a:ext cx="91440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15214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(PHP Data Objects) es una capa de abstracción para acceder a bases de datos desde PHP de forma segura y uniforme, independientemente del motor de base de datos (MySQL, PostgreSQL, SQLite, etc.).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2670048" cy="2606040"/>
          </a:xfrm>
          <a:prstGeom prst="rect">
            <a:avLst/>
          </a:prstGeom>
          <a:solidFill>
            <a:srgbClr val="162218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57400"/>
            <a:ext cx="2670048" cy="5029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075688"/>
            <a:ext cx="25237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Abstracción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2450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código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MySQL,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SQLite...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3218688" y="2057400"/>
            <a:ext cx="2670048" cy="2606040"/>
          </a:xfrm>
          <a:prstGeom prst="rect">
            <a:avLst/>
          </a:prstGeom>
          <a:solidFill>
            <a:srgbClr val="16221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2057400"/>
            <a:ext cx="2670048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075688"/>
            <a:ext cx="25237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3328416" y="2633472"/>
            <a:ext cx="2450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preparadas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evitan inyección SQL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Injection)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071616" y="2057400"/>
            <a:ext cx="2670048" cy="2606040"/>
          </a:xfrm>
          <a:prstGeom prst="rect">
            <a:avLst/>
          </a:prstGeom>
          <a:solidFill>
            <a:srgbClr val="162218"/>
          </a:solidFill>
          <a:ln w="19050">
            <a:solidFill>
              <a:srgbClr val="CF9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71616" y="2057400"/>
            <a:ext cx="2670048" cy="50292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075688"/>
            <a:ext cx="25237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1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Orientado a OOP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6181344" y="2633472"/>
            <a:ext cx="2450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con clases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objetos, integra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con POO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Clase Conexión con PDO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39FF14">
              <a:alpha val="40000"/>
            </a:srgbClr>
          </a:solidFill>
          <a:ln w="12700">
            <a:solidFill>
              <a:srgbClr val="39FF1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5120640" cy="3749040"/>
          </a:xfrm>
          <a:prstGeom prst="rect">
            <a:avLst/>
          </a:prstGeom>
          <a:solidFill>
            <a:srgbClr val="0D1A0F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51560"/>
            <a:ext cx="5120640" cy="2743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98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Conexion.php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75698" y="1633168"/>
            <a:ext cx="500214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90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Conexion 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9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</a:t>
            </a:r>
            <a:r>
              <a:rPr lang="en-US" sz="90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Conectar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r>
              <a:rPr lang="en-US" sz="90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Datos de conexión
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$host       = </a:t>
            </a:r>
            <a:r>
              <a:rPr lang="en-US" sz="9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'localhost'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$baseDeDatos = </a:t>
            </a:r>
            <a:r>
              <a:rPr lang="en-US" sz="9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'mi_base_de_datos'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$usuario     = </a:t>
            </a:r>
            <a:r>
              <a:rPr lang="en-US" sz="9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'root'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    $contrasena  = </a:t>
            </a:r>
            <a:r>
              <a:rPr lang="en-US" sz="9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r>
              <a:rPr lang="en-US" sz="90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Crear conexión PDO
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$conexion = new </a:t>
            </a:r>
            <a:r>
              <a:rPr lang="en-US" sz="90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"mysql:host=$host;dbname=$baseDeDatos;charset=utf8"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$usuario, $contrasena
    );
</a:t>
            </a:r>
            <a:r>
              <a:rPr lang="en-US" sz="90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Lanzar excepciones en errores
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$conexion-&gt;setAttribute(
</a:t>
            </a:r>
            <a:r>
              <a:rPr lang="en-US" sz="90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PDO::ATTR_ERRMODE, PDO::ERRMODE_EXCEPTION
    );
</a:t>
            </a:r>
            <a:r>
              <a:rPr lang="en-US" sz="90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$conexion;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6928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669280" y="1463040"/>
            <a:ext cx="3200400" cy="713232"/>
          </a:xfrm>
          <a:prstGeom prst="rect">
            <a:avLst/>
          </a:prstGeom>
          <a:solidFill>
            <a:srgbClr val="162218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463040"/>
            <a:ext cx="3200400" cy="256032"/>
          </a:xfrm>
          <a:prstGeom prst="rect">
            <a:avLst/>
          </a:prstGeom>
          <a:solidFill>
            <a:srgbClr val="39FF14">
              <a:alpha val="25000"/>
            </a:srgbClr>
          </a:solidFill>
          <a:ln w="12700">
            <a:solidFill>
              <a:srgbClr val="39FF1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481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function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760720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sin crear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objeto: Conexion::Conectar()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69280" y="2267712"/>
            <a:ext cx="3200400" cy="713232"/>
          </a:xfrm>
          <a:prstGeom prst="rect">
            <a:avLst/>
          </a:prstGeom>
          <a:solidFill>
            <a:srgbClr val="162218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267712"/>
            <a:ext cx="3200400" cy="25603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2860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PDO(...)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760720" y="2560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DSN, usuario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contraseña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669280" y="3072384"/>
            <a:ext cx="3200400" cy="713232"/>
          </a:xfrm>
          <a:prstGeom prst="rect">
            <a:avLst/>
          </a:prstGeom>
          <a:solidFill>
            <a:srgbClr val="162218"/>
          </a:solidFill>
          <a:ln w="15240">
            <a:solidFill>
              <a:srgbClr val="FFE1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072384"/>
            <a:ext cx="3200400" cy="256032"/>
          </a:xfrm>
          <a:prstGeom prst="rect">
            <a:avLst/>
          </a:prstGeom>
          <a:solidFill>
            <a:srgbClr val="FFE135">
              <a:alpha val="25000"/>
            </a:srgbClr>
          </a:solidFill>
          <a:ln w="12700">
            <a:solidFill>
              <a:srgbClr val="FFE135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090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760720" y="3364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Name: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mysql:host=...;dbname=...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669280" y="3877056"/>
            <a:ext cx="3200400" cy="713232"/>
          </a:xfrm>
          <a:prstGeom prst="rect">
            <a:avLst/>
          </a:prstGeom>
          <a:solidFill>
            <a:srgbClr val="162218"/>
          </a:solidFill>
          <a:ln w="15240">
            <a:solidFill>
              <a:srgbClr val="FF4F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3877056"/>
            <a:ext cx="3200400" cy="256032"/>
          </a:xfrm>
          <a:prstGeom prst="rect">
            <a:avLst/>
          </a:prstGeom>
          <a:solidFill>
            <a:srgbClr val="FF4F4F">
              <a:alpha val="25000"/>
            </a:srgbClr>
          </a:solidFill>
          <a:ln w="12700">
            <a:solidFill>
              <a:srgbClr val="FF4F4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38953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ERRMODE_EXCEPTION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760720" y="41696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lanza excepciones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errores silenciosos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Consultas Preparadas — SQL Injection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FF4F4F">
              <a:alpha val="40000"/>
            </a:srgbClr>
          </a:solidFill>
          <a:ln w="12700">
            <a:solidFill>
              <a:srgbClr val="FF4F4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4206240" cy="310896"/>
          </a:xfrm>
          <a:prstGeom prst="rect">
            <a:avLst/>
          </a:prstGeom>
          <a:solidFill>
            <a:srgbClr val="FF4F4F">
              <a:alpha val="25000"/>
            </a:srgbClr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69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consulta preparada — PELIGROSO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65760" y="1389888"/>
            <a:ext cx="4206240" cy="1371600"/>
          </a:xfrm>
          <a:prstGeom prst="rect">
            <a:avLst/>
          </a:prstGeom>
          <a:solidFill>
            <a:srgbClr val="0D1A0F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9961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El atacante envía: ' OR '1'='1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$id = 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$_GET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r>
              <a:rPr lang="en-US" sz="1050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$sql = "SELECT * FROM usuarios WHERE id = $id";
// Resultado: devuelve TODOS los usuarios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06240" cy="310896"/>
          </a:xfrm>
          <a:prstGeom prst="rect">
            <a:avLst/>
          </a:prstGeom>
          <a:solidFill>
            <a:srgbClr val="39FF14">
              <a:alpha val="25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69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 consulta preparada — SEGURO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572000" y="1389888"/>
            <a:ext cx="4206240" cy="1371600"/>
          </a:xfrm>
          <a:prstGeom prst="rect">
            <a:avLst/>
          </a:prstGeom>
          <a:solidFill>
            <a:srgbClr val="0D1A0F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9961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usuarios WHERE id = :id"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':id'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$id);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65760" y="28529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E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internamente?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697480" cy="1508760"/>
          </a:xfrm>
          <a:prstGeom prst="rect">
            <a:avLst/>
          </a:prstGeom>
          <a:solidFill>
            <a:srgbClr val="16221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00400"/>
            <a:ext cx="384048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0400"/>
            <a:ext cx="3840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622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822960" y="3255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prepare()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822960" y="3602736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envía la consulta al servidor SIN datos — el servidor la compila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3218688" y="3200400"/>
            <a:ext cx="2697480" cy="1508760"/>
          </a:xfrm>
          <a:prstGeom prst="rect">
            <a:avLst/>
          </a:prstGeom>
          <a:solidFill>
            <a:srgbClr val="162218"/>
          </a:solidFill>
          <a:ln w="19050">
            <a:solidFill>
              <a:srgbClr val="FFE1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8688" y="3200400"/>
            <a:ext cx="384048" cy="1508760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18688" y="3200400"/>
            <a:ext cx="3840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622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3675888" y="3255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bindParam()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3675888" y="3602736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envía los datos por separado — el servidor los trata como texto puro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6071616" y="3200400"/>
            <a:ext cx="2697480" cy="1508760"/>
          </a:xfrm>
          <a:prstGeom prst="rect">
            <a:avLst/>
          </a:prstGeom>
          <a:solidFill>
            <a:srgbClr val="162218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3200400"/>
            <a:ext cx="384048" cy="15087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3200400"/>
            <a:ext cx="3840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622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6528816" y="32552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6528816" y="3602736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ejecuta la consulta compilada con los datos — imposible inyección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Operación INSERT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39FF14">
              <a:alpha val="40000"/>
            </a:srgbClr>
          </a:solidFill>
          <a:ln w="12700">
            <a:solidFill>
              <a:srgbClr val="39FF1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5074920" cy="3749040"/>
          </a:xfrm>
          <a:prstGeom prst="rect">
            <a:avLst/>
          </a:prstGeom>
          <a:solidFill>
            <a:srgbClr val="0D1A0F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51560"/>
            <a:ext cx="5074920" cy="2743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98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OperacionesSQL.php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02920" y="1380744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insertarUsuario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($nombre, $email) {
  $conexion = Conexion::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Conectar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Preparar la operación INSERT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usuarios (nombre, email)
     VALUES (:nombre, :email)"
  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Vincular los parámetros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':nombre'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$nombre);
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':email'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$email);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Ejecutar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ID del registro insertado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lastInsertId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importantes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623560" y="1444752"/>
            <a:ext cx="3200400" cy="731520"/>
          </a:xfrm>
          <a:prstGeom prst="rect">
            <a:avLst/>
          </a:prstGeom>
          <a:solidFill>
            <a:srgbClr val="162218"/>
          </a:solidFill>
          <a:ln w="15240">
            <a:solidFill>
              <a:srgbClr val="FFE1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444752"/>
            <a:ext cx="3200400" cy="256032"/>
          </a:xfrm>
          <a:prstGeom prst="rect">
            <a:avLst/>
          </a:prstGeom>
          <a:solidFill>
            <a:srgbClr val="FFE135">
              <a:alpha val="22000"/>
            </a:srgbClr>
          </a:solidFill>
          <a:ln w="12700">
            <a:solidFill>
              <a:srgbClr val="FFE135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4721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:nombre / :email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715000" y="17556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— nunca poner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directo en el SQL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23560" y="2267712"/>
            <a:ext cx="3200400" cy="731520"/>
          </a:xfrm>
          <a:prstGeom prst="rect">
            <a:avLst/>
          </a:prstGeom>
          <a:solidFill>
            <a:srgbClr val="162218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267712"/>
            <a:ext cx="3200400" cy="256032"/>
          </a:xfrm>
          <a:prstGeom prst="rect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2951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bindParam()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715000" y="2578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la variable PHP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placeholder del SQL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623560" y="3090672"/>
            <a:ext cx="3200400" cy="731520"/>
          </a:xfrm>
          <a:prstGeom prst="rect">
            <a:avLst/>
          </a:prstGeom>
          <a:solidFill>
            <a:srgbClr val="162218"/>
          </a:solidFill>
          <a:ln w="15240">
            <a:solidFill>
              <a:srgbClr val="39FF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090672"/>
            <a:ext cx="3200400" cy="256032"/>
          </a:xfrm>
          <a:prstGeom prst="rect">
            <a:avLst/>
          </a:prstGeom>
          <a:solidFill>
            <a:srgbClr val="39FF14">
              <a:alpha val="22000"/>
            </a:srgbClr>
          </a:solidFill>
          <a:ln w="12700">
            <a:solidFill>
              <a:srgbClr val="39FF14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1181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715000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los datos al servidor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ejecuta la operación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623560" y="3913632"/>
            <a:ext cx="3200400" cy="731520"/>
          </a:xfrm>
          <a:prstGeom prst="rect">
            <a:avLst/>
          </a:prstGeom>
          <a:solidFill>
            <a:srgbClr val="162218"/>
          </a:solidFill>
          <a:ln w="15240">
            <a:solidFill>
              <a:srgbClr val="CF9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3913632"/>
            <a:ext cx="3200400" cy="256032"/>
          </a:xfrm>
          <a:prstGeom prst="rect">
            <a:avLst/>
          </a:prstGeom>
          <a:solidFill>
            <a:srgbClr val="CF9FFF">
              <a:alpha val="22000"/>
            </a:srgbClr>
          </a:solidFill>
          <a:ln w="12700">
            <a:solidFill>
              <a:srgbClr val="CF9FFF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941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lastInsertId()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715000" y="4224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el ID del registro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recién insertado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Operación SELECT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5074920" cy="3749040"/>
          </a:xfrm>
          <a:prstGeom prst="rect">
            <a:avLst/>
          </a:prstGeom>
          <a:solidFill>
            <a:srgbClr val="0D1A0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51560"/>
            <a:ext cx="507492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98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OperacionesSQL.php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02920" y="1380744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r>
              <a:rPr lang="en-US" sz="105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EjemploOperacion 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Conexion 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obtenerUsuario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($id) {
    $conexion = Conexion::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Conectar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Preparar la consulta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"SELECT id, nombre, email
       FROM usuarios
       WHERE id = :id"
    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Vincular parámetro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':id'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$id);
  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Obtener resultados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(PDO::</a:t>
            </a:r>
            <a:r>
              <a:rPr lang="en-US" sz="105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resultados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623560" y="1444752"/>
            <a:ext cx="3200400" cy="1691640"/>
          </a:xfrm>
          <a:prstGeom prst="rect">
            <a:avLst/>
          </a:prstGeom>
          <a:solidFill>
            <a:srgbClr val="0D1A0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5544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$resultado 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05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$fila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
  echo "ID: "     . $fila['id']     . " - ";
  echo "Nombre: " . $fila['nombre'] . " - ";
  echo "Email: "  . $fila['email']  . "&lt;br&gt;";
}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5623560" y="3246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E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fetchAll()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5623560" y="3593592"/>
            <a:ext cx="3200400" cy="365760"/>
          </a:xfrm>
          <a:prstGeom prst="rect">
            <a:avLst/>
          </a:prstGeom>
          <a:solidFill>
            <a:srgbClr val="162218"/>
          </a:solidFill>
          <a:ln w="10160">
            <a:solidFill>
              <a:srgbClr val="FFE1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3593592"/>
            <a:ext cx="54864" cy="365760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24144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PDO::FETCH_ASSOC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724144" y="380390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con claves = nombres de columna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623560" y="4014216"/>
            <a:ext cx="3200400" cy="365760"/>
          </a:xfrm>
          <a:prstGeom prst="rect">
            <a:avLst/>
          </a:prstGeom>
          <a:solidFill>
            <a:srgbClr val="162218"/>
          </a:solidFill>
          <a:ln w="10160">
            <a:solidFill>
              <a:srgbClr val="FFE1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4014216"/>
            <a:ext cx="54864" cy="365760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4144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PDO::FETCH_OBJ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5724144" y="42245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con propiedades = columnas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5623560" y="4434840"/>
            <a:ext cx="3200400" cy="365760"/>
          </a:xfrm>
          <a:prstGeom prst="rect">
            <a:avLst/>
          </a:prstGeom>
          <a:solidFill>
            <a:srgbClr val="162218"/>
          </a:solidFill>
          <a:ln w="10160">
            <a:solidFill>
              <a:srgbClr val="FFE1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4434840"/>
            <a:ext cx="54864" cy="365760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24144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PDO::FETCH_NUM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724144" y="464515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indexado numéricamente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Operaciones UPDATE y DELETE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FF8C42">
              <a:alpha val="40000"/>
            </a:srgbClr>
          </a:solidFill>
          <a:ln w="1270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4206240" cy="292608"/>
          </a:xfrm>
          <a:prstGeom prst="rect">
            <a:avLst/>
          </a:prstGeom>
          <a:solidFill>
            <a:srgbClr val="FF8C42">
              <a:alpha val="2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69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Modificar un registro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4206240" cy="2395728"/>
          </a:xfrm>
          <a:prstGeom prst="rect">
            <a:avLst/>
          </a:prstGeom>
          <a:solidFill>
            <a:srgbClr val="0D1A0F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81328"/>
            <a:ext cx="39776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 usuarios
   SET nombre = :nombre, email = :email
   WHERE id = :id"
);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':nombre'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$nombre);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':email'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$email);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':id'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$id);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4206240" cy="292608"/>
          </a:xfrm>
          <a:prstGeom prst="rect">
            <a:avLst/>
          </a:prstGeom>
          <a:solidFill>
            <a:srgbClr val="FF4F4F">
              <a:alpha val="20000"/>
            </a:srgbClr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1069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Eliminar un registro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4572000" y="1371600"/>
            <a:ext cx="4206240" cy="2395728"/>
          </a:xfrm>
          <a:prstGeom prst="rect">
            <a:avLst/>
          </a:prstGeom>
          <a:solidFill>
            <a:srgbClr val="0D1A0F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81328"/>
            <a:ext cx="397764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"DELETE FROM usuarios
   WHERE id = :id"
);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':id'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$id);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filas afectadas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$afectadas =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rowCount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8412480" cy="804672"/>
          </a:xfrm>
          <a:prstGeom prst="rect">
            <a:avLst/>
          </a:prstGeom>
          <a:solidFill>
            <a:srgbClr val="162218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77056"/>
            <a:ext cx="73152" cy="804672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9136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SIEMPRE usa WHERE en UPDATE y DELETE.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530352" y="418795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WHERE, la operación afecta TODOS los registros de la tabla. Una vez ejecutado, no hay deshacer.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Procedimientos Almacenados (SP)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CF9FFF">
              <a:alpha val="40000"/>
            </a:srgbClr>
          </a:solidFill>
          <a:ln w="12700">
            <a:solidFill>
              <a:srgbClr val="CF9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243028"/>
          </a:solidFill>
          <a:ln w="19050">
            <a:solidFill>
              <a:srgbClr val="CF9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51560"/>
            <a:ext cx="91440" cy="658368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0972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Stored Procedure (SP) es un bloque de código SQL guardado en la base de datos. Se ejecuta en el servidor de BD y se puede llamar desde PHP. Ideal para operaciones complejas o repetitivas.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F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sin parámetros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365760" y="2139696"/>
            <a:ext cx="4114800" cy="2578608"/>
          </a:xfrm>
          <a:prstGeom prst="rect">
            <a:avLst/>
          </a:prstGeom>
          <a:solidFill>
            <a:srgbClr val="0D1A0F"/>
          </a:solidFill>
          <a:ln w="19050">
            <a:solidFill>
              <a:srgbClr val="CF9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9424"/>
            <a:ext cx="3886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Llamar al procedimiento almacenado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"CALL ObtenerUsuariosActivos()"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$resultado =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(PDO::</a:t>
            </a:r>
            <a:r>
              <a:rPr lang="en-US" sz="105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6634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 parámetros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663440" y="2139696"/>
            <a:ext cx="4114800" cy="2578608"/>
          </a:xfrm>
          <a:prstGeom prst="rect">
            <a:avLst/>
          </a:prstGeom>
          <a:solidFill>
            <a:srgbClr val="0D1A0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249424"/>
            <a:ext cx="388620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 con parámetros de entrada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"CALL BuscarPorEstado(:estado)"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':estado'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$estado);
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$resultado =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fetchAll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(PDO::</a:t>
            </a:r>
            <a:r>
              <a:rPr lang="en-US" sz="105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FETCH_ASSOC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Manejo de Errores — try / catch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FF4F4F">
              <a:alpha val="40000"/>
            </a:srgbClr>
          </a:solidFill>
          <a:ln w="12700">
            <a:solidFill>
              <a:srgbClr val="FF4F4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5074920" cy="3749040"/>
          </a:xfrm>
          <a:prstGeom prst="rect">
            <a:avLst/>
          </a:prstGeom>
          <a:solidFill>
            <a:srgbClr val="0D1A0F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51560"/>
            <a:ext cx="5074920" cy="27432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0698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OperacionesSQL.php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495091" y="1396402"/>
            <a:ext cx="4846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insertarSeguro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($nombre, $email) {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    $conexion = Conexion::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Conectar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    $consulta = $conexion-&gt;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"INSERT INTO usuarios (nombre,email) VALUES (:n,:e)"
    );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$consulta-&gt;bindParam(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':n'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,$nombre);
    $consulta-&gt;bindParam(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':e'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,$email);
    $consulta-&gt;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/>
          </a:p>
          <a:p>
            <a:pPr marL="0" indent="0">
              <a:buNone/>
            </a:pP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PDOException 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$e) {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Registrar el error, no mostrarlo al usuario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error_log(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$e-&gt;getMessage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
</a:t>
            </a:r>
            <a:r>
              <a:rPr lang="en-US" sz="105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050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0" y="1097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try / catch?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623560" y="1463040"/>
            <a:ext cx="3200400" cy="960120"/>
          </a:xfrm>
          <a:prstGeom prst="rect">
            <a:avLst/>
          </a:prstGeom>
          <a:solidFill>
            <a:srgbClr val="162218"/>
          </a:solidFill>
          <a:ln w="15240">
            <a:solidFill>
              <a:srgbClr val="FF4F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463040"/>
            <a:ext cx="3200400" cy="274320"/>
          </a:xfrm>
          <a:prstGeom prst="rect">
            <a:avLst/>
          </a:prstGeom>
          <a:solidFill>
            <a:srgbClr val="FF4F4F">
              <a:alpha val="22000"/>
            </a:srgbClr>
          </a:solidFill>
          <a:ln w="12700">
            <a:solidFill>
              <a:srgbClr val="FF4F4F">
                <a:alpha val="3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4904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4F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PDOException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715000" y="17922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lanza esta excepción si algo falla: conexión caída, SQL inválido, etc.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5623560" y="2514600"/>
            <a:ext cx="3200400" cy="960120"/>
          </a:xfrm>
          <a:prstGeom prst="rect">
            <a:avLst/>
          </a:prstGeom>
          <a:solidFill>
            <a:srgbClr val="162218"/>
          </a:solidFill>
          <a:ln w="15240">
            <a:solidFill>
              <a:srgbClr val="FFE1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514600"/>
            <a:ext cx="3200400" cy="274320"/>
          </a:xfrm>
          <a:prstGeom prst="rect">
            <a:avLst/>
          </a:prstGeom>
          <a:solidFill>
            <a:srgbClr val="FFE135">
              <a:alpha val="22000"/>
            </a:srgbClr>
          </a:solidFill>
          <a:ln w="12700">
            <a:solidFill>
              <a:srgbClr val="FFE135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5420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error_log()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715000" y="28437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error en logs del servidor. El usuario solo ve un mensaje genérico.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5623560" y="3566160"/>
            <a:ext cx="3200400" cy="960120"/>
          </a:xfrm>
          <a:prstGeom prst="rect">
            <a:avLst/>
          </a:prstGeom>
          <a:solidFill>
            <a:srgbClr val="162218"/>
          </a:solidFill>
          <a:ln w="15240">
            <a:solidFill>
              <a:srgbClr val="FF8C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566160"/>
            <a:ext cx="3200400" cy="274320"/>
          </a:xfrm>
          <a:prstGeom prst="rect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5935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715000" y="38953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llamador puede saber si la operación falló sin ver el error técnico.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OOP — Herencia de Clases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39FF14">
              <a:alpha val="40000"/>
            </a:srgbClr>
          </a:solidFill>
          <a:ln w="12700">
            <a:solidFill>
              <a:srgbClr val="39FF1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005840"/>
          </a:xfrm>
          <a:prstGeom prst="rect">
            <a:avLst/>
          </a:prstGeom>
          <a:solidFill>
            <a:srgbClr val="162218"/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34747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D1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Conexion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218688" y="150876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Conectar() : PDO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544568" y="2103120"/>
            <a:ext cx="54864" cy="5029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extends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2743200" y="2852928"/>
            <a:ext cx="3657600" cy="1481328"/>
          </a:xfrm>
          <a:prstGeom prst="rect">
            <a:avLst/>
          </a:prstGeom>
          <a:solidFill>
            <a:srgbClr val="162218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2852928"/>
            <a:ext cx="36576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287121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D1A0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EjemploOperacion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2816352" y="3255264"/>
            <a:ext cx="3511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obtenerUsuario($id) : array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insertarUsuario($n, $email)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actualizarUsuario($id, $n, $email)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eliminarUsuario($id)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365760" y="1097280"/>
            <a:ext cx="2606040" cy="3246120"/>
          </a:xfrm>
          <a:prstGeom prst="rect">
            <a:avLst/>
          </a:prstGeom>
          <a:solidFill>
            <a:srgbClr val="24302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143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PADRE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57200" y="148132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lógica de conexión. Todos los archivos de operaciones heredan de ella. Solo se define en un lugar.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57200" y="2487168"/>
            <a:ext cx="2423160" cy="27432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786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HIJA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457200" y="290779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Conectar() del padre. Contiene todos los métodos CRUD específicos de la tabla o módulo.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6565392" y="1097280"/>
            <a:ext cx="2240280" cy="3246120"/>
          </a:xfrm>
          <a:prstGeom prst="rect">
            <a:avLst/>
          </a:prstGeom>
          <a:solidFill>
            <a:srgbClr val="243028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143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F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6656832" y="1508760"/>
            <a:ext cx="182880" cy="18288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148132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centralizada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6656832" y="2103120"/>
            <a:ext cx="182880" cy="18288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207568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mantener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6656832" y="2697480"/>
            <a:ext cx="182880" cy="18288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67004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— Don't Repeat Yourself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6656832" y="3291840"/>
            <a:ext cx="182880" cy="18288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32644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por módulos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bindParam() vs bindValue()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FFE135">
              <a:alpha val="40000"/>
            </a:srgbClr>
          </a:solidFill>
          <a:ln w="12700">
            <a:solidFill>
              <a:srgbClr val="FFE135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51560"/>
            <a:ext cx="4206240" cy="310896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069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bindParam() — vincula por referencia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365760" y="1389888"/>
            <a:ext cx="4206240" cy="2286000"/>
          </a:xfrm>
          <a:prstGeom prst="rect">
            <a:avLst/>
          </a:prstGeom>
          <a:solidFill>
            <a:srgbClr val="0D1A0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499616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'Juan'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$stmt-&gt;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bindParam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':nombre'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$nombre);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Cambio ANTES de execute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'Carlos'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$stmt-&gt;execute();
</a:t>
            </a:r>
            <a:r>
              <a:rPr lang="en-US" sz="10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 'Carlos' (el valor actual)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4206240" cy="658368"/>
          </a:xfrm>
          <a:prstGeom prst="rect">
            <a:avLst/>
          </a:prstGeom>
          <a:solidFill>
            <a:srgbClr val="16221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67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la VARIABLE (referencia). Si cambia antes de execute(), usa el valor nuevo. Útil en bucles.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06240" cy="310896"/>
          </a:xfrm>
          <a:prstGeom prst="rect">
            <a:avLst/>
          </a:prstGeom>
          <a:solidFill>
            <a:srgbClr val="39FF14">
              <a:alpha val="20000"/>
            </a:srgbClr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069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bindValue() — vincula por valor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4572000" y="1389888"/>
            <a:ext cx="4206240" cy="2286000"/>
          </a:xfrm>
          <a:prstGeom prst="rect">
            <a:avLst/>
          </a:prstGeom>
          <a:solidFill>
            <a:srgbClr val="0D1A0F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99616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'Juan'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$stmt-&gt;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bindValue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':nombre'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$nombre);
</a:t>
            </a:r>
            <a:r>
              <a:rPr lang="en-US" sz="1050">
                <a:solidFill>
                  <a:srgbClr val="6A8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Cambio ANTES de execute
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</a:t>
            </a:r>
            <a:r>
              <a:rPr lang="en-US" sz="1050">
                <a:solidFill>
                  <a:srgbClr val="B5E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'Carlos'</a:t>
            </a:r>
            <a:r>
              <a:rPr lang="en-US" sz="1050">
                <a:solidFill>
                  <a:srgbClr val="F0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$stmt-&gt;execute();
</a:t>
            </a:r>
            <a:r>
              <a:rPr lang="en-US" sz="10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 'Juan' (capturado al bind)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572000" y="3730752"/>
            <a:ext cx="4206240" cy="658368"/>
          </a:xfrm>
          <a:prstGeom prst="rect">
            <a:avLst/>
          </a:prstGeom>
          <a:solidFill>
            <a:srgbClr val="16221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67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el VALOR en el momento del bind. Aunque la variable cambie, execute() usa el valor original.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Buenas Prácticas con PDO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39FF14">
              <a:alpha val="40000"/>
            </a:srgbClr>
          </a:solidFill>
          <a:ln w="12700">
            <a:solidFill>
              <a:srgbClr val="39FF14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78992"/>
            <a:ext cx="4160520" cy="91440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🔒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05840" y="12435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usar consultas preparadas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05840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concatenar variables en el SQL directamente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773168" y="107899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078992"/>
            <a:ext cx="4160520" cy="91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🏗️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5413248" y="12435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la clase Conexion del resto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413248" y="15910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Conexion.php y clases por módulo/tabla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65760" y="231343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13432"/>
            <a:ext cx="4160520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🚫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005840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mostrar errores de BD al usuario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005840" y="2825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try/catch y error_log() en producción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773168" y="231343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313432"/>
            <a:ext cx="4160520" cy="91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🔐</a:t>
            </a:r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5413248" y="24780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variables de entorno para credenciales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413248" y="28254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hardcodear usuario/password en el código fuente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365760" y="354787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CF9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547872"/>
            <a:ext cx="4160520" cy="91440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♻️</a:t>
            </a:r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1005840" y="3712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F9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conexión al terminar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1005840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null a la variable PDO cuando ya no se necesita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773168" y="3547872"/>
            <a:ext cx="4160520" cy="1115568"/>
          </a:xfrm>
          <a:prstGeom prst="rect">
            <a:avLst/>
          </a:prstGeom>
          <a:solidFill>
            <a:srgbClr val="162218"/>
          </a:solidFill>
          <a:ln w="19050">
            <a:solidFill>
              <a:srgbClr val="FFE1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3547872"/>
            <a:ext cx="4160520" cy="91440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000000"/>
                </a:solidFill>
              </a:rPr>
              <a:t>📋</a:t>
            </a:r>
            <a:endParaRPr lang="en-US" sz="2400"/>
          </a:p>
        </p:txBody>
      </p:sp>
      <p:sp>
        <p:nvSpPr>
          <p:cNvPr id="38" name="Text 36"/>
          <p:cNvSpPr/>
          <p:nvPr/>
        </p:nvSpPr>
        <p:spPr>
          <a:xfrm>
            <a:off x="5413248" y="371246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E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datos antes de consultar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5413248" y="4059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isset(), trim(), filter_var() antes de pasarlos a bindParam()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804672" y="1097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PDO vs MySQLi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0" y="960120"/>
            <a:ext cx="91440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2743200" cy="384048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097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Característica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3200400" y="1078992"/>
            <a:ext cx="2926080" cy="38404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PDO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217920" y="1078992"/>
            <a:ext cx="265176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0972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C2B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MySQLi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365760" y="1508760"/>
            <a:ext cx="8503920" cy="457200"/>
          </a:xfrm>
          <a:prstGeom prst="rect">
            <a:avLst/>
          </a:prstGeom>
          <a:solidFill>
            <a:srgbClr val="243028"/>
          </a:solidFill>
          <a:ln w="12700">
            <a:solidFill>
              <a:srgbClr val="2430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50876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5819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soportadas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581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Postgres, SQLite, Oracle...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581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MySQL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65760" y="2011680"/>
            <a:ext cx="8503920" cy="45720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01168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084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preparadas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3200400" y="201168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0848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 (objetos y procedural)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6217920" y="201168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2084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Sí (procedural)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365760" y="2514600"/>
            <a:ext cx="8503920" cy="457200"/>
          </a:xfrm>
          <a:prstGeom prst="rect">
            <a:avLst/>
          </a:prstGeom>
          <a:solidFill>
            <a:srgbClr val="243028"/>
          </a:solidFill>
          <a:ln w="12700">
            <a:solidFill>
              <a:srgbClr val="2430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51460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de código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3200400" y="251460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877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(recomendado)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6217920" y="251460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25877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y procedural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365760" y="3017520"/>
            <a:ext cx="8503920" cy="45720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01752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3200400" y="301752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0906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(try/catch)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6217920" y="301752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error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8503920" cy="457200"/>
          </a:xfrm>
          <a:prstGeom prst="rect">
            <a:avLst/>
          </a:prstGeom>
          <a:solidFill>
            <a:srgbClr val="243028"/>
          </a:solidFill>
          <a:ln w="12700">
            <a:solidFill>
              <a:srgbClr val="24302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352044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5935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3200400" y="352044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10128" y="35935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Alta — cambia solo el DSN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6217920" y="352044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35935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Solo MySQL</a:t>
            </a:r>
            <a:endParaRPr lang="en-US" sz="1200"/>
          </a:p>
        </p:txBody>
      </p:sp>
      <p:sp>
        <p:nvSpPr>
          <p:cNvPr id="51" name="Shape 49"/>
          <p:cNvSpPr/>
          <p:nvPr/>
        </p:nvSpPr>
        <p:spPr>
          <a:xfrm>
            <a:off x="365760" y="4023360"/>
            <a:ext cx="8503920" cy="457200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4023360"/>
            <a:ext cx="54864" cy="457200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096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para</a:t>
            </a:r>
            <a:endParaRPr lang="en-US" sz="1200"/>
          </a:p>
        </p:txBody>
      </p:sp>
      <p:sp>
        <p:nvSpPr>
          <p:cNvPr id="54" name="Shape 52"/>
          <p:cNvSpPr/>
          <p:nvPr/>
        </p:nvSpPr>
        <p:spPr>
          <a:xfrm>
            <a:off x="3200400" y="4023360"/>
            <a:ext cx="54864" cy="4572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0128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nuevos y escalables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6217920" y="4023360"/>
            <a:ext cx="54864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solo MySQL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365760" y="4553712"/>
            <a:ext cx="8503920" cy="274320"/>
          </a:xfrm>
          <a:prstGeom prst="rect">
            <a:avLst/>
          </a:prstGeom>
          <a:solidFill>
            <a:srgbClr val="243028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0352" y="45720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Para proyectos universitarios y profesionales modernos, PDO es la opción recomendada.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663440"/>
            <a:ext cx="9144000" cy="25603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5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¡Lo aprendido hoy!</a:t>
            </a:r>
            <a:endParaRPr lang="en-US" sz="4200"/>
          </a:p>
        </p:txBody>
      </p:sp>
      <p:sp>
        <p:nvSpPr>
          <p:cNvPr id="9" name="Shape 7"/>
          <p:cNvSpPr/>
          <p:nvPr/>
        </p:nvSpPr>
        <p:spPr>
          <a:xfrm>
            <a:off x="658368" y="1444752"/>
            <a:ext cx="4114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636776"/>
            <a:ext cx="164592" cy="1645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— abstracción segura para BD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58368" y="1984248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Conexion — static Conectar()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58368" y="2331720"/>
            <a:ext cx="164592" cy="164592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95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preparadas — previenen SQL Injection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658368" y="2679192"/>
            <a:ext cx="164592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642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prepare, bindParam, execute, fetchAll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58368" y="3026664"/>
            <a:ext cx="164592" cy="1645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prepare, bindParam, execute, lastInsertId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58368" y="3374136"/>
            <a:ext cx="164592" cy="1645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337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 DELETE — siempre con WHERE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029200" y="1636776"/>
            <a:ext cx="164592" cy="164592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1600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— CALL NombreSP()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029200" y="1984248"/>
            <a:ext cx="164592" cy="164592"/>
          </a:xfrm>
          <a:prstGeom prst="rect">
            <a:avLst/>
          </a:prstGeom>
          <a:solidFill>
            <a:srgbClr val="FF4F4F"/>
          </a:solidFill>
          <a:ln w="12700">
            <a:solidFill>
              <a:srgbClr val="FF4F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947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— manejo seguro de errores PDOException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029200" y="2331720"/>
            <a:ext cx="164592" cy="164592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295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bindParam vs bindValue — referencia vs valor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5029200" y="2679192"/>
            <a:ext cx="164592" cy="1645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6426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OOP — EjemploOperacion extends Conexion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5029200" y="3026664"/>
            <a:ext cx="164592" cy="164592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seguridad y organización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// </a:t>
            </a:r>
            <a:r>
              <a:rPr lang="en-US" sz="2000" b="1">
                <a:solidFill>
                  <a:srgbClr val="F0F0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Arquitectura: Flujo de Archivos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164592" y="640080"/>
            <a:ext cx="3273552" cy="4315968"/>
          </a:xfrm>
          <a:prstGeom prst="rect">
            <a:avLst/>
          </a:prstGeom>
          <a:solidFill>
            <a:srgbClr val="061A0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640080"/>
            <a:ext cx="3273552" cy="31089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65836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0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CLIENTE (Navegador)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944368" cy="749808"/>
          </a:xfrm>
          <a:prstGeom prst="rect">
            <a:avLst/>
          </a:prstGeom>
          <a:solidFill>
            <a:srgbClr val="0D2E14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78992"/>
            <a:ext cx="2944368" cy="21945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088136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formulario.html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393192" y="131673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 • &lt;input&gt; • &lt;select&gt;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action='procesar.php' method='POST'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20040" y="1956816"/>
            <a:ext cx="2944368" cy="749808"/>
          </a:xfrm>
          <a:prstGeom prst="rect">
            <a:avLst/>
          </a:prstGeom>
          <a:solidFill>
            <a:srgbClr val="0D2E14"/>
          </a:solidFill>
          <a:ln w="19050">
            <a:solidFill>
              <a:srgbClr val="FFE1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56816"/>
            <a:ext cx="2944368" cy="219456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965960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validacion.js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93192" y="219456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Validación en el cliente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formatos, campos vacíos, longitud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2944368" cy="749808"/>
          </a:xfrm>
          <a:prstGeom prst="rect">
            <a:avLst/>
          </a:prstGeom>
          <a:solidFill>
            <a:srgbClr val="0D2E14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34640"/>
            <a:ext cx="2944368" cy="2194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84378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 ajax.js (opcional)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93192" y="307238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 / XMLHttpRequest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Envía datos sin recargar la página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2944368" cy="749808"/>
          </a:xfrm>
          <a:prstGeom prst="rect">
            <a:avLst/>
          </a:prstGeom>
          <a:solidFill>
            <a:srgbClr val="0D2E14"/>
          </a:solidFill>
          <a:ln w="19050">
            <a:solidFill>
              <a:srgbClr val="CF9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12464"/>
            <a:ext cx="2944368" cy="219456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72160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🖥️  Respuesta HTML/JSON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93192" y="395020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devuelve HTML renderizado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JSON para consumo JS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538728" y="713232"/>
            <a:ext cx="2029968" cy="4315968"/>
          </a:xfrm>
          <a:prstGeom prst="rect">
            <a:avLst/>
          </a:prstGeom>
          <a:solidFill>
            <a:srgbClr val="060F07"/>
          </a:solidFill>
          <a:ln w="10160">
            <a:solidFill>
              <a:srgbClr val="A8B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640080"/>
            <a:ext cx="2029968" cy="310896"/>
          </a:xfrm>
          <a:prstGeom prst="rect">
            <a:avLst/>
          </a:prstGeom>
          <a:solidFill>
            <a:srgbClr val="A8B8A0"/>
          </a:solidFill>
          <a:ln w="12700">
            <a:solidFill>
              <a:srgbClr val="A8B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658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60F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HTTP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3602736" y="1554480"/>
            <a:ext cx="1901952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132588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POST/GET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3593592" y="2452956"/>
            <a:ext cx="1901952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1762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fetch()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602736" y="3303270"/>
            <a:ext cx="1901952" cy="36576"/>
          </a:xfrm>
          <a:prstGeom prst="rect">
            <a:avLst/>
          </a:prstGeom>
          <a:solidFill>
            <a:srgbClr val="CF9FFF"/>
          </a:solidFill>
          <a:ln w="12700">
            <a:solidFill>
              <a:srgbClr val="CF9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06324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F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HTML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3602736" y="4191544"/>
            <a:ext cx="1901952" cy="36576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9319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JSON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5687568" y="640080"/>
            <a:ext cx="3291840" cy="4315968"/>
          </a:xfrm>
          <a:prstGeom prst="rect">
            <a:avLst/>
          </a:prstGeom>
          <a:solidFill>
            <a:srgbClr val="06120A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87568" y="640080"/>
            <a:ext cx="3291840" cy="31089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6583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1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SERVIDOR (PHP)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5833872" y="1078992"/>
            <a:ext cx="2999232" cy="713232"/>
          </a:xfrm>
          <a:prstGeom prst="rect">
            <a:avLst/>
          </a:prstGeom>
          <a:solidFill>
            <a:srgbClr val="0A1E0D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33872" y="1078992"/>
            <a:ext cx="2999232" cy="21945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07024" y="108813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📥  procesar.php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5907024" y="1316736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 / $_GET • trim() • isset()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htmlspecialchars() • filter_var()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5833872" y="1920240"/>
            <a:ext cx="2999232" cy="713232"/>
          </a:xfrm>
          <a:prstGeom prst="rect">
            <a:avLst/>
          </a:prstGeom>
          <a:solidFill>
            <a:srgbClr val="0A1E0D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33872" y="1920240"/>
            <a:ext cx="2999232" cy="21945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07024" y="192938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🔌  Conexion.php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5907024" y="2157984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Conexion • PDO • DSN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ATTR_ERRMODE_EXCEPTION</a:t>
            </a:r>
            <a:endParaRPr lang="en-US" sz="950"/>
          </a:p>
        </p:txBody>
      </p:sp>
      <p:sp>
        <p:nvSpPr>
          <p:cNvPr id="46" name="Shape 44"/>
          <p:cNvSpPr/>
          <p:nvPr/>
        </p:nvSpPr>
        <p:spPr>
          <a:xfrm>
            <a:off x="5833872" y="2761488"/>
            <a:ext cx="2999232" cy="713232"/>
          </a:xfrm>
          <a:prstGeom prst="rect">
            <a:avLst/>
          </a:prstGeom>
          <a:solidFill>
            <a:srgbClr val="0A1E0D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33872" y="2761488"/>
            <a:ext cx="2999232" cy="21945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07024" y="27706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🗄️  OperacionesSQL.php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5907024" y="2999232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Conexion • SELECT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• UPDATE • DELETE • SP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5833872" y="3602736"/>
            <a:ext cx="2999232" cy="822960"/>
          </a:xfrm>
          <a:prstGeom prst="rect">
            <a:avLst/>
          </a:prstGeom>
          <a:solidFill>
            <a:srgbClr val="0A1E0D"/>
          </a:solidFill>
          <a:ln w="19050">
            <a:solidFill>
              <a:srgbClr val="FFE1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33872" y="3602736"/>
            <a:ext cx="2999232" cy="219456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07024" y="361188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0F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🗃️  MySQL / phpMyAdmin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5907024" y="3840480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Tablas • SPs almacenados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SQL: SELECT / INSERT / UPDATE...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7287768" y="1792224"/>
            <a:ext cx="54864" cy="128016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9168" y="177393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/>
          </a:p>
        </p:txBody>
      </p:sp>
      <p:sp>
        <p:nvSpPr>
          <p:cNvPr id="56" name="Shape 54"/>
          <p:cNvSpPr/>
          <p:nvPr/>
        </p:nvSpPr>
        <p:spPr>
          <a:xfrm>
            <a:off x="7287768" y="2633472"/>
            <a:ext cx="54864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261518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7287768" y="3474720"/>
            <a:ext cx="54864" cy="128016"/>
          </a:xfrm>
          <a:prstGeom prst="rect">
            <a:avLst/>
          </a:prstGeom>
          <a:solidFill>
            <a:srgbClr val="FFE135"/>
          </a:solidFill>
          <a:ln w="12700">
            <a:solidFill>
              <a:srgbClr val="FFE1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59168" y="345643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E1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200"/>
          </a:p>
        </p:txBody>
      </p:sp>
      <p:sp>
        <p:nvSpPr>
          <p:cNvPr id="60" name="Shape 5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2218"/>
          </a:solidFill>
          <a:ln w="12700">
            <a:solidFill>
              <a:srgbClr val="16221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4919472"/>
            <a:ext cx="9144000" cy="320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377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A8B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 datos con PHP  •  Mag. Tomás Calderón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A7D4AD-1420-45BC-81D8-D545A3E092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C1242E-913F-4308-96FA-D586CF0BDB43}">
  <ds:schemaRefs>
    <ds:schemaRef ds:uri="277a641c-123d-4d79-b272-d60a57294ef7"/>
    <ds:schemaRef ds:uri="5e8f54ad-ddc9-466e-becb-47ddc0d2abd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525731-CDF1-4610-AB4A-068ECAB84EC9}">
  <ds:schemaRefs>
    <ds:schemaRef ds:uri="277a641c-123d-4d79-b272-d60a57294ef7"/>
    <ds:schemaRef ds:uri="5e8f54ad-ddc9-466e-becb-47ddc0d2ab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de datos con PHP</dc:title>
  <dc:subject>PptxGenJS Presentation</dc:subject>
  <dc:creator>PptxGenJS</dc:creator>
  <cp:revision>1</cp:revision>
  <dcterms:created xsi:type="dcterms:W3CDTF">2026-03-18T14:39:10Z</dcterms:created>
  <dcterms:modified xsi:type="dcterms:W3CDTF">2026-04-25T02:39:53Z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  <property fmtid="{D5CDD505-2E9C-101B-9397-08002B2CF9AE}" pid="3" name="MediaServiceImageTags">
    <vt:lpwstr/>
  </property>
</Properties>
</file>